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32"/>
  </p:notesMasterIdLst>
  <p:handoutMasterIdLst>
    <p:handoutMasterId r:id="rId33"/>
  </p:handoutMasterIdLst>
  <p:sldIdLst>
    <p:sldId id="336" r:id="rId5"/>
    <p:sldId id="330" r:id="rId6"/>
    <p:sldId id="332" r:id="rId7"/>
    <p:sldId id="356" r:id="rId8"/>
    <p:sldId id="357" r:id="rId9"/>
    <p:sldId id="358" r:id="rId10"/>
    <p:sldId id="337" r:id="rId11"/>
    <p:sldId id="340" r:id="rId12"/>
    <p:sldId id="339" r:id="rId13"/>
    <p:sldId id="341" r:id="rId14"/>
    <p:sldId id="348" r:id="rId15"/>
    <p:sldId id="334" r:id="rId16"/>
    <p:sldId id="342" r:id="rId17"/>
    <p:sldId id="343" r:id="rId18"/>
    <p:sldId id="344" r:id="rId19"/>
    <p:sldId id="345" r:id="rId20"/>
    <p:sldId id="359" r:id="rId21"/>
    <p:sldId id="346" r:id="rId22"/>
    <p:sldId id="347" r:id="rId23"/>
    <p:sldId id="335" r:id="rId24"/>
    <p:sldId id="350" r:id="rId25"/>
    <p:sldId id="351" r:id="rId26"/>
    <p:sldId id="352" r:id="rId27"/>
    <p:sldId id="353" r:id="rId28"/>
    <p:sldId id="354" r:id="rId29"/>
    <p:sldId id="274" r:id="rId30"/>
    <p:sldId id="275" r:id="rId31"/>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F2F4F8"/>
    <a:srgbClr val="0B49CB"/>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85205"/>
  </p:normalViewPr>
  <p:slideViewPr>
    <p:cSldViewPr snapToGrid="0" snapToObjects="1">
      <p:cViewPr varScale="1">
        <p:scale>
          <a:sx n="107" d="100"/>
          <a:sy n="107" d="100"/>
        </p:scale>
        <p:origin x="1432" y="176"/>
      </p:cViewPr>
      <p:guideLst>
        <p:guide orient="horz" pos="2184"/>
        <p:guide pos="3840"/>
      </p:guideLst>
    </p:cSldViewPr>
  </p:slideViewPr>
  <p:notesTextViewPr>
    <p:cViewPr>
      <p:scale>
        <a:sx n="1" d="1"/>
        <a:sy n="1" d="1"/>
      </p:scale>
      <p:origin x="0" y="0"/>
    </p:cViewPr>
  </p:notesTextViewPr>
  <p:notesViewPr>
    <p:cSldViewPr snapToGrid="0" snapToObjects="1">
      <p:cViewPr varScale="1">
        <p:scale>
          <a:sx n="265" d="100"/>
          <a:sy n="265" d="100"/>
        </p:scale>
        <p:origin x="200" y="-151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5/7/26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5/7/26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badi" panose="020B0604020104020204" pitchFamily="34" charset="77"/>
              </a:rPr>
              <a:t>This bar chart visualizes the number of ratings received by the top 20 courses in the dataset.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badi" panose="020B0604020104020204" pitchFamily="34" charset="77"/>
              </a:rPr>
              <a:t>Each course name is treated as a proxy for its genre, allowing us to infer thematic popularity across the IBM curriculum e.g. Python for Data Science, AI &amp; Development → Programming / AI.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badi" panose="020B0604020104020204" pitchFamily="34" charset="77"/>
              </a:rPr>
              <a:t>Tools for Data Science → Data Science Toolkit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badi" panose="020B0604020104020204" pitchFamily="34" charset="77"/>
              </a:rPr>
              <a:t>Big Data Foundations → Big Data / Infrastructure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badi" panose="020B0604020104020204" pitchFamily="34" charset="77"/>
              </a:rPr>
              <a:t>Cybersecurity Fundamentals → Security / Risk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badi" panose="020B0604020104020204" pitchFamily="34" charset="77"/>
              </a:rPr>
              <a:t>Web Application Development → Software Engineering / Web Dev</a:t>
            </a:r>
          </a:p>
          <a:p>
            <a:pPr marL="0" indent="0">
              <a:buNone/>
            </a:pPr>
            <a:endParaRPr lang="en-US" sz="1200" dirty="0">
              <a:latin typeface="Abadi" panose="020B0604020104020204" pitchFamily="34" charset="77"/>
            </a:endParaRPr>
          </a:p>
          <a:p>
            <a:r>
              <a:rPr lang="en-US" sz="1200" b="1" i="1" dirty="0">
                <a:latin typeface="Abadi" panose="020B0604020104020204" pitchFamily="34" charset="77"/>
              </a:rPr>
              <a:t>Each course name as proxy</a:t>
            </a:r>
            <a:r>
              <a:rPr lang="en-US" sz="1200" i="1" dirty="0">
                <a:latin typeface="Abadi" panose="020B0604020104020204" pitchFamily="34" charset="77"/>
              </a:rPr>
              <a:t>: this approach offers a genre-level perspective without needing a separate metadata column. It helps reviewers understand which domains — such as AI, Big Data, or Cybersecurity — attract the most learner engagement.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badi" panose="020B0604020104020204" pitchFamily="34" charset="77"/>
            </a:endParaRP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8</a:t>
            </a:fld>
            <a:endParaRPr lang="en-US"/>
          </a:p>
        </p:txBody>
      </p:sp>
    </p:spTree>
    <p:extLst>
      <p:ext uri="{BB962C8B-B14F-4D97-AF65-F5344CB8AC3E}">
        <p14:creationId xmlns:p14="http://schemas.microsoft.com/office/powerpoint/2010/main" val="115271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200" b="0" dirty="0">
                <a:latin typeface="Abadi" panose="020B0604020104020204" pitchFamily="34" charset="77"/>
              </a:rPr>
              <a:t>This histogram shows how many courses each user enrolled in. </a:t>
            </a:r>
          </a:p>
          <a:p>
            <a:pPr marL="285750" indent="-285750">
              <a:buFont typeface="Arial" panose="020B0604020202020204" pitchFamily="34" charset="0"/>
              <a:buChar char="•"/>
            </a:pPr>
            <a:r>
              <a:rPr lang="en-US" sz="1200" b="0" dirty="0">
                <a:latin typeface="Abadi" panose="020B0604020104020204" pitchFamily="34" charset="77"/>
              </a:rPr>
              <a:t>Most users </a:t>
            </a:r>
            <a:r>
              <a:rPr lang="en-US" sz="1200" dirty="0">
                <a:latin typeface="Abadi" panose="020B0604020104020204" pitchFamily="34" charset="77"/>
              </a:rPr>
              <a:t>enroll in only one or two courses, with the number of users decreasing as the number of enrolled courses increases. </a:t>
            </a:r>
          </a:p>
          <a:p>
            <a:pPr marL="285750" indent="-285750">
              <a:buFont typeface="Arial" panose="020B0604020202020204" pitchFamily="34" charset="0"/>
              <a:buChar char="•"/>
            </a:pPr>
            <a:r>
              <a:rPr lang="en-US" sz="1200" dirty="0">
                <a:latin typeface="Abadi" panose="020B0604020104020204" pitchFamily="34" charset="77"/>
              </a:rPr>
              <a:t>This distribution highlights typical learner behavior: broad interest at the entry level, with a smaller group of highly engaged learners who take many courses.</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9</a:t>
            </a:fld>
            <a:endParaRPr lang="en-US"/>
          </a:p>
        </p:txBody>
      </p:sp>
    </p:spTree>
    <p:extLst>
      <p:ext uri="{BB962C8B-B14F-4D97-AF65-F5344CB8AC3E}">
        <p14:creationId xmlns:p14="http://schemas.microsoft.com/office/powerpoint/2010/main" val="1172674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latin typeface="Abadi" panose="020B0604020104020204" pitchFamily="34" charset="77"/>
              </a:rPr>
              <a:t>This ranked list reflects real learner behavior, showing which courses attracted the highest enrollments. </a:t>
            </a:r>
          </a:p>
          <a:p>
            <a:pPr marL="171450" indent="-171450">
              <a:buFont typeface="Arial" panose="020B0604020202020204" pitchFamily="34" charset="0"/>
              <a:buChar char="•"/>
            </a:pPr>
            <a:r>
              <a:rPr lang="en-US" sz="1200" dirty="0">
                <a:latin typeface="Abadi" panose="020B0604020104020204" pitchFamily="34" charset="77"/>
              </a:rPr>
              <a:t>Python, data science, and big data dominate the top spots, with emerging tech like blockchain and cybersecurity also appearing.</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10</a:t>
            </a:fld>
            <a:endParaRPr lang="en-US"/>
          </a:p>
        </p:txBody>
      </p:sp>
    </p:spTree>
    <p:extLst>
      <p:ext uri="{BB962C8B-B14F-4D97-AF65-F5344CB8AC3E}">
        <p14:creationId xmlns:p14="http://schemas.microsoft.com/office/powerpoint/2010/main" val="3396057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200" b="0" dirty="0">
                <a:latin typeface="Abadi" panose="020B0604020104020204" pitchFamily="34" charset="77"/>
              </a:rPr>
              <a:t>This word cloud visualizes the most frequent terms used in course titles. </a:t>
            </a:r>
          </a:p>
          <a:p>
            <a:pPr marL="285750" indent="-285750">
              <a:buFont typeface="Arial" panose="020B0604020202020204" pitchFamily="34" charset="0"/>
              <a:buChar char="•"/>
            </a:pPr>
            <a:r>
              <a:rPr lang="en-US" sz="1200" dirty="0">
                <a:latin typeface="Abadi" panose="020B0604020104020204" pitchFamily="34" charset="77"/>
              </a:rPr>
              <a:t>Prominent words like Python, Data, Science, Machine Learning, and Big Data reflect the core themes of the curriculum. </a:t>
            </a:r>
          </a:p>
          <a:p>
            <a:pPr marL="285750" indent="-285750">
              <a:buFont typeface="Arial" panose="020B0604020202020204" pitchFamily="34" charset="0"/>
              <a:buChar char="•"/>
            </a:pPr>
            <a:r>
              <a:rPr lang="en-US" sz="1200" dirty="0">
                <a:latin typeface="Abadi" panose="020B0604020104020204" pitchFamily="34" charset="77"/>
              </a:rPr>
              <a:t>The visualization helps reviewers quickly grasp the dominant topics and terminology across the course catalog.</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11</a:t>
            </a:fld>
            <a:endParaRPr lang="en-US"/>
          </a:p>
        </p:txBody>
      </p:sp>
    </p:spTree>
    <p:extLst>
      <p:ext uri="{BB962C8B-B14F-4D97-AF65-F5344CB8AC3E}">
        <p14:creationId xmlns:p14="http://schemas.microsoft.com/office/powerpoint/2010/main" val="2803837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dirty="0">
                <a:latin typeface="Abadi" panose="020B0604020104020204" pitchFamily="34" charset="77"/>
              </a:rPr>
              <a:t>This flowchart </a:t>
            </a:r>
            <a:r>
              <a:rPr lang="en-US" sz="1200" dirty="0">
                <a:latin typeface="Abadi" panose="020B0604020104020204" pitchFamily="34" charset="77"/>
              </a:rPr>
              <a:t>outlines the logic behind the content-based recommender system. </a:t>
            </a:r>
          </a:p>
          <a:p>
            <a:pPr marL="171450" indent="-171450">
              <a:buFont typeface="Arial" panose="020B0604020202020204" pitchFamily="34" charset="0"/>
              <a:buChar char="•"/>
            </a:pPr>
            <a:r>
              <a:rPr lang="en-US" sz="1200" dirty="0">
                <a:latin typeface="Abadi" panose="020B0604020104020204" pitchFamily="34" charset="77"/>
              </a:rPr>
              <a:t>The process begins with the user selecting one or more courses. </a:t>
            </a:r>
          </a:p>
          <a:p>
            <a:pPr marL="171450" indent="-171450">
              <a:buFont typeface="Arial" panose="020B0604020202020204" pitchFamily="34" charset="0"/>
              <a:buChar char="•"/>
            </a:pPr>
            <a:r>
              <a:rPr lang="en-US" sz="1200" dirty="0">
                <a:latin typeface="Abadi" panose="020B0604020104020204" pitchFamily="34" charset="77"/>
              </a:rPr>
              <a:t>The system extracts the associated genres and builds a user profile vector by combining those genre vectors. </a:t>
            </a:r>
          </a:p>
          <a:p>
            <a:pPr marL="171450" indent="-171450">
              <a:buFont typeface="Arial" panose="020B0604020202020204" pitchFamily="34" charset="0"/>
              <a:buChar char="•"/>
            </a:pPr>
            <a:r>
              <a:rPr lang="en-US" sz="1200" dirty="0">
                <a:latin typeface="Abadi" panose="020B0604020104020204" pitchFamily="34" charset="77"/>
              </a:rPr>
              <a:t>This profile is then compared against a matrix of genre vectors for all courses using cosine similarity. </a:t>
            </a:r>
          </a:p>
          <a:p>
            <a:pPr marL="171450" indent="-171450">
              <a:buFont typeface="Arial" panose="020B0604020202020204" pitchFamily="34" charset="0"/>
              <a:buChar char="•"/>
            </a:pPr>
            <a:r>
              <a:rPr lang="en-US" sz="1200" dirty="0">
                <a:latin typeface="Abadi" panose="020B0604020104020204" pitchFamily="34" charset="77"/>
              </a:rPr>
              <a:t>The results are ranked, filtered to exclude already-selected courses, and returned as personalized recommendations. </a:t>
            </a:r>
          </a:p>
          <a:p>
            <a:pPr marL="171450" indent="-171450">
              <a:buFont typeface="Arial" panose="020B0604020202020204" pitchFamily="34" charset="0"/>
              <a:buChar char="•"/>
            </a:pPr>
            <a:r>
              <a:rPr lang="en-US" sz="1200" dirty="0">
                <a:latin typeface="Abadi" panose="020B0604020104020204" pitchFamily="34" charset="77"/>
              </a:rPr>
              <a:t>This approach ensures that suggestions align with the thematic interests expressed by the user</a:t>
            </a:r>
            <a:r>
              <a:rPr lang="en-US" dirty="0">
                <a:latin typeface="Abadi" panose="020B0604020104020204" pitchFamily="34" charset="77"/>
              </a:rPr>
              <a:t>.</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13</a:t>
            </a:fld>
            <a:endParaRPr lang="en-US"/>
          </a:p>
        </p:txBody>
      </p:sp>
    </p:spTree>
    <p:extLst>
      <p:ext uri="{BB962C8B-B14F-4D97-AF65-F5344CB8AC3E}">
        <p14:creationId xmlns:p14="http://schemas.microsoft.com/office/powerpoint/2010/main" val="767844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Recommender uses a similarity threshold of 0.4 and filters out already-enrolled courses.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Top‑5 recommendations per user ensure precision and relevance.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Average of 1.00 new course per user shows focused, genre-aligned suggestions.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Popularity chart ranks courses by number of unique users, not total ratings.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High engagement in foundational courses (e.g., PROG101, BIO101) validates recommender alignment.</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14</a:t>
            </a:fld>
            <a:endParaRPr lang="en-US"/>
          </a:p>
        </p:txBody>
      </p:sp>
    </p:spTree>
    <p:extLst>
      <p:ext uri="{BB962C8B-B14F-4D97-AF65-F5344CB8AC3E}">
        <p14:creationId xmlns:p14="http://schemas.microsoft.com/office/powerpoint/2010/main" val="3280196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This flowchart illustrates the logic behind the course similarity–based recommender system.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 user begins by selecting one or more courses.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 system retrieves a precomputed similarity matrix (sim.csv) that quantifies how similar each course is to every other.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For each selected course, the system extracts its similarity scores and aggregates them across all selections.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 resulting scores are ranked, excluding any courses the user already selected.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 top-ranked courses are returned as personalized recommendations, ensuring thematic continuity based on course-to-course similarity.</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15</a:t>
            </a:fld>
            <a:endParaRPr lang="en-US"/>
          </a:p>
        </p:txBody>
      </p:sp>
    </p:spTree>
    <p:extLst>
      <p:ext uri="{BB962C8B-B14F-4D97-AF65-F5344CB8AC3E}">
        <p14:creationId xmlns:p14="http://schemas.microsoft.com/office/powerpoint/2010/main" val="831171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This slide presents the hyperparameter settings and evaluation results for the course similarity–based recommender.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I tested three similarity thresholds to balance precision and diversity.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As the threshold increases, the system becomes more selective, recommending fewer courses but with higher precision.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A threshold of 0.3 was selected for optimal balance.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 aggregation method used was summation across selected courses, and the system returned the top 5 recommendations per user.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Thresholds were selected to explore the trade‑off between recommendation diversity (lower thresholds) and recommendation precision (higher thresholds).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Precision and recall were computed by comparing recommended courses against each user’s held‑out test set.</a:t>
            </a:r>
          </a:p>
          <a:p>
            <a:endParaRPr lang="en-US" dirty="0"/>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1551860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This slide presents the output-level evaluation of the course similarity–based recommender system.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On average, the system recommended 5 new courses per user, demonstrating its ability to surface unseen learning opportunities., </a:t>
            </a:r>
            <a:r>
              <a:rPr lang="en-US" sz="1200" kern="1200" dirty="0">
                <a:solidFill>
                  <a:schemeClr val="tx1"/>
                </a:solidFill>
                <a:effectLst/>
                <a:latin typeface="+mn-lt"/>
                <a:ea typeface="+mn-ea"/>
                <a:cs typeface="+mn-cs"/>
              </a:rPr>
              <a:t>Because my Top‑N is 5, this result means the recommender is consistently producing five entirely new courses for every user in the test set.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 Top‑10 table highlights the most frequently recommended courses across the test set, reflecting underlying feature clusters in the similarity matrix.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These results complement the hyperparameter tuning shown on the previous slide and illustrate the recommender’s practical behavior.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In other words, none of the recommended courses overlap with the user’s existing enrollments.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This is exactly what a content‑based similarity model tends to do when users have taken only a small number of courses — the similarity space is wide enough that the Top‑5 are always “new.”.</a:t>
            </a:r>
          </a:p>
          <a:p>
            <a:endParaRPr lang="en-US" sz="1200" kern="1200" dirty="0">
              <a:solidFill>
                <a:schemeClr val="tx1"/>
              </a:solidFill>
              <a:effectLst/>
              <a:latin typeface="Abadi" panose="020B0604020104020204" pitchFamily="34" charset="77"/>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1625691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This flowchart outlines the logic behind the clustering-based recommender system.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Starting with raw user-course interaction data, the system processes and cleans the dataset to prepare it for clustering.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Feature engineering extracts behavioral signals that inform user similarity.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A clustering algorithm (e.g., KMeans) groups users into clusters based on these features. Recommendations are then generated by identifying popular or relevant courses within the same cluster, ensuring that users receive suggestions aligned with similar learning profiles.</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18</a:t>
            </a:fld>
            <a:endParaRPr lang="en-US"/>
          </a:p>
        </p:txBody>
      </p:sp>
    </p:spTree>
    <p:extLst>
      <p:ext uri="{BB962C8B-B14F-4D97-AF65-F5344CB8AC3E}">
        <p14:creationId xmlns:p14="http://schemas.microsoft.com/office/powerpoint/2010/main" val="3937165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On average, users received 5 new courses — matching the Top‑5 recommendation setting, as none of the recommended courses overlapped with their existing enrollments.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slide shows the hyperparameter tuning process for the content‑based recommender.</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Three similarity thresholds were tested to balance recommendation diversity and precision.</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Lower thresholds produce more recommendations but with lower precision.</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Higher thresholds increase precision but reduce the number of new courses.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 threshold of 0.3 was selected as the optimal balance for this dataset.</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19</a:t>
            </a:fld>
            <a:endParaRPr lang="en-US"/>
          </a:p>
        </p:txBody>
      </p:sp>
    </p:spTree>
    <p:extLst>
      <p:ext uri="{BB962C8B-B14F-4D97-AF65-F5344CB8AC3E}">
        <p14:creationId xmlns:p14="http://schemas.microsoft.com/office/powerpoint/2010/main" val="1386429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This flowchart illustrates how the KNN‑based recommender system uses historical enrollment patterns to identify similar users and recommend courses they have taken.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After preprocessing the user–item matrix, the model computes similarity scores and selects the k nearest neighbors.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Their course histories are aggregated to predict which unseen courses the target user is most likely to enroll in.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 system then ranks and filters these predictions before returning the final Top‑N recommendations.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1. Raw Data &gt;2.Data Processing&gt;3.Feature Engineering&gt;4.KNN Model&gt;5.Generate recommendations&gt;6.Output</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21</a:t>
            </a:fld>
            <a:endParaRPr lang="en-US"/>
          </a:p>
        </p:txBody>
      </p:sp>
    </p:spTree>
    <p:extLst>
      <p:ext uri="{BB962C8B-B14F-4D97-AF65-F5344CB8AC3E}">
        <p14:creationId xmlns:p14="http://schemas.microsoft.com/office/powerpoint/2010/main" val="14526038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This flowchart outlines the NMF‑based recommender system, which uses matrix factorization to uncover latent patterns in user–course interactions.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After preprocessing the rating matrix, the system applies Non‑Negative Matrix Factorization to decompose it into user and item feature matrices.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These are then multiplied to predict unseen ratings, which are ranked and filtered to generate personalized course recommendations.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Abadi" panose="020B0604020104020204" pitchFamily="34" charset="77"/>
                <a:ea typeface="+mn-ea"/>
                <a:cs typeface="+mn-cs"/>
              </a:rPr>
              <a:t>1.Raw data&gt;2.Data processing&gt;3.Matrix factorization&gt;4.Prediction generation&gt;5.Output</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22</a:t>
            </a:fld>
            <a:endParaRPr lang="en-US"/>
          </a:p>
        </p:txBody>
      </p:sp>
    </p:spTree>
    <p:extLst>
      <p:ext uri="{BB962C8B-B14F-4D97-AF65-F5344CB8AC3E}">
        <p14:creationId xmlns:p14="http://schemas.microsoft.com/office/powerpoint/2010/main" val="2779632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effectLst/>
                <a:latin typeface="Abadi" panose="020B0604020104020204" pitchFamily="34" charset="77"/>
                <a:ea typeface="+mn-ea"/>
                <a:cs typeface="+mn-cs"/>
              </a:rPr>
              <a:t>This flowchart outlines the neural network embedding‑based recommender system, which uses learned vector representations of users and courses to model complex interaction patterns.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effectLst/>
                <a:latin typeface="Abadi" panose="020B0604020104020204" pitchFamily="34" charset="77"/>
                <a:ea typeface="+mn-ea"/>
                <a:cs typeface="+mn-cs"/>
              </a:rPr>
              <a:t>After preprocessing and encoding the data, the system trains a neural network to predict match scores between users and courses.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effectLst/>
                <a:latin typeface="Abadi" panose="020B0604020104020204" pitchFamily="34" charset="77"/>
                <a:ea typeface="+mn-ea"/>
                <a:cs typeface="+mn-cs"/>
              </a:rPr>
              <a:t>These predictions are ranked and filtered to generate personalized recommendations.</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23</a:t>
            </a:fld>
            <a:endParaRPr lang="en-US"/>
          </a:p>
        </p:txBody>
      </p:sp>
    </p:spTree>
    <p:extLst>
      <p:ext uri="{BB962C8B-B14F-4D97-AF65-F5344CB8AC3E}">
        <p14:creationId xmlns:p14="http://schemas.microsoft.com/office/powerpoint/2010/main" val="2455886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effectLst/>
                <a:latin typeface="Abadi" panose="020B0604020104020204" pitchFamily="34" charset="77"/>
                <a:ea typeface="+mn-ea"/>
                <a:cs typeface="+mn-cs"/>
              </a:rPr>
              <a:t>This bar chart compares the RMSE values of various collaborative filtering models.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Item‑based collaborative filtering achieves the lowest RMSE, indicating the strongest predictive accuracy. User‑based CF performs slightly worse, while SVD underperforms on this dataset, likely due to sparse user–item interactions.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baseline model provides a reference point for improvement.</a:t>
            </a:r>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24</a:t>
            </a:fld>
            <a:endParaRPr lang="en-US"/>
          </a:p>
        </p:txBody>
      </p:sp>
    </p:spTree>
    <p:extLst>
      <p:ext uri="{BB962C8B-B14F-4D97-AF65-F5344CB8AC3E}">
        <p14:creationId xmlns:p14="http://schemas.microsoft.com/office/powerpoint/2010/main" val="1422014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effectLst/>
                <a:latin typeface="Abadi" panose="020B0604020104020204" pitchFamily="34" charset="77"/>
                <a:ea typeface="+mn-ea"/>
                <a:cs typeface="+mn-cs"/>
              </a:rPr>
              <a:t>The Streamlit app provides an interactive interface for generating personalized course recommendations.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effectLst/>
                <a:latin typeface="Abadi" panose="020B0604020104020204" pitchFamily="34" charset="77"/>
                <a:ea typeface="+mn-ea"/>
                <a:cs typeface="+mn-cs"/>
              </a:rPr>
              <a:t>Users can select courses, view similarity‑based suggestions, and explore dataset statistics.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effectLst/>
                <a:latin typeface="Abadi" panose="020B0604020104020204" pitchFamily="34" charset="77"/>
                <a:ea typeface="+mn-ea"/>
                <a:cs typeface="+mn-cs"/>
              </a:rPr>
              <a:t>These screenshots demonstrate the deployed UI and the model outputs.</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25</a:t>
            </a:fld>
            <a:endParaRPr lang="en-US"/>
          </a:p>
        </p:txBody>
      </p:sp>
    </p:spTree>
    <p:extLst>
      <p:ext uri="{BB962C8B-B14F-4D97-AF65-F5344CB8AC3E}">
        <p14:creationId xmlns:p14="http://schemas.microsoft.com/office/powerpoint/2010/main" val="2695144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This project demonstrates the full lifecycle of an AI system, from raw data ingestion to model deployment. By implementing and evaluating multiple recommender system approaches, we highlighted the strengths and limitations of each method and selected the most effective models based on real performance metrics.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final Streamlit app showcases how these models can be delivered as an interactive, user‑facing tool, completing the end‑to‑end machine learning pipeline.</a:t>
            </a:r>
          </a:p>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26</a:t>
            </a:fld>
            <a:endParaRPr lang="en-US"/>
          </a:p>
        </p:txBody>
      </p:sp>
    </p:spTree>
    <p:extLst>
      <p:ext uri="{BB962C8B-B14F-4D97-AF65-F5344CB8AC3E}">
        <p14:creationId xmlns:p14="http://schemas.microsoft.com/office/powerpoint/2010/main" val="2322840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3 assets listed: URL app, app screenshot and top courses code snippet.</a:t>
            </a:r>
          </a:p>
        </p:txBody>
      </p:sp>
      <p:sp>
        <p:nvSpPr>
          <p:cNvPr id="4" name="Slide Number Placeholder 3"/>
          <p:cNvSpPr>
            <a:spLocks noGrp="1"/>
          </p:cNvSpPr>
          <p:nvPr>
            <p:ph type="sldNum" sz="quarter" idx="5"/>
          </p:nvPr>
        </p:nvSpPr>
        <p:spPr/>
        <p:txBody>
          <a:bodyPr/>
          <a:lstStyle/>
          <a:p>
            <a:fld id="{EEBDA0E2-FEBD-4B65-8F16-724CF984F377}" type="slidenum">
              <a:rPr lang="en-US" smtClean="0"/>
              <a:t>27</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5/7/26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localhost:8501/"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5871412" y="3615824"/>
            <a:ext cx="6118575" cy="2838753"/>
            <a:chOff x="5136802" y="3703860"/>
            <a:chExt cx="6118575"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3"/>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57954" y="4527982"/>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242610" y="629722"/>
            <a:ext cx="10241280" cy="1323439"/>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 IBM</a:t>
            </a:r>
          </a:p>
        </p:txBody>
      </p:sp>
      <p:sp>
        <p:nvSpPr>
          <p:cNvPr id="3" name="TextBox 2">
            <a:extLst>
              <a:ext uri="{FF2B5EF4-FFF2-40B4-BE49-F238E27FC236}">
                <a16:creationId xmlns:a16="http://schemas.microsoft.com/office/drawing/2014/main" id="{68217B24-331B-5040-859E-22982B3A88DA}"/>
              </a:ext>
            </a:extLst>
          </p:cNvPr>
          <p:cNvSpPr txBox="1"/>
          <p:nvPr/>
        </p:nvSpPr>
        <p:spPr>
          <a:xfrm>
            <a:off x="177809" y="3344295"/>
            <a:ext cx="3515351" cy="830997"/>
          </a:xfrm>
          <a:prstGeom prst="rect">
            <a:avLst/>
          </a:prstGeom>
          <a:noFill/>
        </p:spPr>
        <p:txBody>
          <a:bodyPr wrap="square" lIns="91440" tIns="45720" rIns="91440" bIns="45720" rtlCol="0" anchor="t">
            <a:spAutoFit/>
          </a:bodyPr>
          <a:lstStyle/>
          <a:p>
            <a:r>
              <a:rPr lang="en-US" sz="2400" dirty="0">
                <a:latin typeface="Abadi"/>
                <a:ea typeface="SF Pro" pitchFamily="2" charset="0"/>
                <a:cs typeface="SF Pro" pitchFamily="2" charset="0"/>
              </a:rPr>
              <a:t>Ranganath Bobba</a:t>
            </a:r>
          </a:p>
          <a:p>
            <a:r>
              <a:rPr lang="en-US" sz="2400" dirty="0">
                <a:latin typeface="Abadi" panose="020B0604020104020204" pitchFamily="34" charset="0"/>
                <a:ea typeface="SF Pro" pitchFamily="2" charset="0"/>
                <a:cs typeface="SF Pro" pitchFamily="2" charset="0"/>
              </a:rPr>
              <a:t>2026</a:t>
            </a:r>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10606756" y="551721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10606756" y="5035201"/>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92564" y="5406189"/>
            <a:ext cx="497423" cy="514575"/>
          </a:xfrm>
          <a:prstGeom prst="rect">
            <a:avLst/>
          </a:prstGeom>
        </p:spPr>
      </p:pic>
    </p:spTree>
    <p:extLst>
      <p:ext uri="{BB962C8B-B14F-4D97-AF65-F5344CB8AC3E}">
        <p14:creationId xmlns:p14="http://schemas.microsoft.com/office/powerpoint/2010/main" val="2559186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10515600" cy="3636396"/>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Introduction and Background/Why it matters</a:t>
            </a:r>
          </a:p>
          <a:p>
            <a:pPr>
              <a:lnSpc>
                <a:spcPct val="100000"/>
              </a:lnSpc>
              <a:spcBef>
                <a:spcPts val="1400"/>
              </a:spcBef>
            </a:pPr>
            <a:r>
              <a:rPr lang="en-US" sz="2200" dirty="0">
                <a:solidFill>
                  <a:schemeClr val="accent3">
                    <a:lumMod val="25000"/>
                  </a:schemeClr>
                </a:solidFill>
                <a:latin typeface="Abadi"/>
              </a:rPr>
              <a:t>Problem statement and hypothesis </a:t>
            </a:r>
          </a:p>
          <a:p>
            <a:pPr>
              <a:lnSpc>
                <a:spcPct val="100000"/>
              </a:lnSpc>
              <a:spcBef>
                <a:spcPts val="1400"/>
              </a:spcBef>
            </a:pPr>
            <a:r>
              <a:rPr lang="en-US" sz="2200" dirty="0">
                <a:solidFill>
                  <a:schemeClr val="accent3">
                    <a:lumMod val="25000"/>
                  </a:schemeClr>
                </a:solidFill>
                <a:latin typeface="Abadi"/>
              </a:rPr>
              <a:t>Exploratory Data Analysis</a:t>
            </a:r>
          </a:p>
          <a:p>
            <a:pPr>
              <a:lnSpc>
                <a:spcPct val="100000"/>
              </a:lnSpc>
              <a:spcBef>
                <a:spcPts val="1400"/>
              </a:spcBef>
            </a:pPr>
            <a:r>
              <a:rPr lang="en-US" sz="2200" dirty="0">
                <a:solidFill>
                  <a:schemeClr val="accent3">
                    <a:lumMod val="25000"/>
                  </a:schemeClr>
                </a:solidFill>
                <a:latin typeface="Abadi"/>
              </a:rPr>
              <a:t>Content-based Recommender System using Unsupervised Learning</a:t>
            </a:r>
          </a:p>
          <a:p>
            <a:pPr>
              <a:lnSpc>
                <a:spcPct val="100000"/>
              </a:lnSpc>
              <a:spcBef>
                <a:spcPts val="1400"/>
              </a:spcBef>
            </a:pPr>
            <a:r>
              <a:rPr lang="en-US" sz="22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chemeClr val="tx1"/>
                </a:solidFill>
                <a:latin typeface="Abadi"/>
              </a:rPr>
              <a:t>Outline</a:t>
            </a:r>
            <a:endParaRPr lang="en-US" dirty="0">
              <a:solidFill>
                <a:schemeClr val="tx1"/>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chemeClr val="tx1"/>
                </a:solidFill>
                <a:latin typeface="Abadi"/>
              </a:rPr>
              <a:t>Introduction</a:t>
            </a:r>
            <a:endParaRPr lang="en-US" dirty="0">
              <a:solidFill>
                <a:schemeClr val="tx1"/>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6" y="1401288"/>
            <a:ext cx="10948823" cy="445324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r>
              <a:rPr lang="en-US" sz="2200" dirty="0">
                <a:solidFill>
                  <a:schemeClr val="tx1"/>
                </a:solidFill>
                <a:latin typeface="Abadi" panose="020B0604020104020204" pitchFamily="34" charset="77"/>
              </a:rPr>
              <a:t>Demonstrates the full lifecycle of an AI system</a:t>
            </a:r>
          </a:p>
          <a:p>
            <a:pPr lvl="0"/>
            <a:r>
              <a:rPr lang="en-US" sz="2200" dirty="0">
                <a:solidFill>
                  <a:schemeClr val="tx1"/>
                </a:solidFill>
                <a:latin typeface="Abadi" panose="020B0604020104020204" pitchFamily="34" charset="77"/>
              </a:rPr>
              <a:t>Covers data acquisition, preprocessing, model development, evaluation, and deployment</a:t>
            </a:r>
          </a:p>
          <a:p>
            <a:pPr lvl="0"/>
            <a:r>
              <a:rPr lang="en-US" sz="2200" dirty="0">
                <a:solidFill>
                  <a:schemeClr val="tx1"/>
                </a:solidFill>
                <a:latin typeface="Abadi" panose="020B0604020104020204" pitchFamily="34" charset="77"/>
              </a:rPr>
              <a:t>Integrates machine learning, deep learning, and ML-Ops principles</a:t>
            </a:r>
          </a:p>
          <a:p>
            <a:pPr lvl="0"/>
            <a:r>
              <a:rPr lang="en-US" sz="2200" dirty="0">
                <a:solidFill>
                  <a:schemeClr val="tx1"/>
                </a:solidFill>
                <a:latin typeface="Abadi" panose="020B0604020104020204" pitchFamily="34" charset="77"/>
              </a:rPr>
              <a:t>Shows how individual components form a coherent, production‑ready pipeline</a:t>
            </a:r>
          </a:p>
          <a:p>
            <a:pPr lvl="0"/>
            <a:endParaRPr lang="en-US" sz="2200" dirty="0">
              <a:solidFill>
                <a:schemeClr val="tx1"/>
              </a:solidFill>
              <a:latin typeface="Abadi" panose="020B0604020104020204" pitchFamily="34" charset="77"/>
            </a:endParaRPr>
          </a:p>
          <a:p>
            <a:pPr marL="0" indent="0">
              <a:buNone/>
            </a:pPr>
            <a:r>
              <a:rPr lang="en-US" sz="2200" b="1" dirty="0">
                <a:solidFill>
                  <a:schemeClr val="tx1"/>
                </a:solidFill>
                <a:latin typeface="Abadi" panose="020B0604020104020204" pitchFamily="34" charset="77"/>
              </a:rPr>
              <a:t>What This Project Shows:</a:t>
            </a:r>
          </a:p>
          <a:p>
            <a:pPr lvl="0"/>
            <a:r>
              <a:rPr lang="en-US" sz="2200" dirty="0">
                <a:solidFill>
                  <a:schemeClr val="tx1"/>
                </a:solidFill>
                <a:latin typeface="Abadi" panose="020B0604020104020204" pitchFamily="34" charset="77"/>
              </a:rPr>
              <a:t>Transforming raw data into a usable dataset</a:t>
            </a:r>
          </a:p>
          <a:p>
            <a:pPr lvl="0"/>
            <a:r>
              <a:rPr lang="en-US" sz="2200" dirty="0">
                <a:solidFill>
                  <a:schemeClr val="tx1"/>
                </a:solidFill>
                <a:latin typeface="Abadi" panose="020B0604020104020204" pitchFamily="34" charset="77"/>
              </a:rPr>
              <a:t>Training, tuning, and comparing multiple models</a:t>
            </a:r>
          </a:p>
          <a:p>
            <a:pPr lvl="0"/>
            <a:r>
              <a:rPr lang="en-US" sz="2200" dirty="0">
                <a:solidFill>
                  <a:schemeClr val="tx1"/>
                </a:solidFill>
                <a:latin typeface="Abadi" panose="020B0604020104020204" pitchFamily="34" charset="77"/>
              </a:rPr>
              <a:t>Selecting the best model using performance metrics</a:t>
            </a:r>
          </a:p>
          <a:p>
            <a:pPr lvl="0"/>
            <a:r>
              <a:rPr lang="en-US" sz="2200" dirty="0">
                <a:solidFill>
                  <a:schemeClr val="tx1"/>
                </a:solidFill>
                <a:latin typeface="Abadi" panose="020B0604020104020204" pitchFamily="34" charset="77"/>
              </a:rPr>
              <a:t>Packaging and deploying the final model as a service</a:t>
            </a:r>
          </a:p>
          <a:p>
            <a:pPr lvl="0"/>
            <a:r>
              <a:rPr lang="en-US" sz="2200" dirty="0">
                <a:solidFill>
                  <a:schemeClr val="tx1"/>
                </a:solidFill>
                <a:latin typeface="Abadi" panose="020B0604020104020204" pitchFamily="34" charset="77"/>
              </a:rPr>
              <a:t>Monitoring and iterating to ensure long‑term reliability</a:t>
            </a:r>
          </a:p>
          <a:p>
            <a:pPr lvl="0"/>
            <a:endParaRPr lang="en-US" sz="2000" dirty="0">
              <a:solidFill>
                <a:schemeClr val="accent3">
                  <a:lumMod val="25000"/>
                </a:schemeClr>
              </a:solidFill>
              <a:latin typeface="Abadi" panose="020B0604020104020204" pitchFamily="34" charset="0"/>
            </a:endParaRPr>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F4B37-B4AD-9E21-5E67-76BF6673137E}"/>
              </a:ext>
            </a:extLst>
          </p:cNvPr>
          <p:cNvSpPr>
            <a:spLocks noGrp="1"/>
          </p:cNvSpPr>
          <p:nvPr>
            <p:ph type="title"/>
          </p:nvPr>
        </p:nvSpPr>
        <p:spPr/>
        <p:txBody>
          <a:bodyPr/>
          <a:lstStyle/>
          <a:p>
            <a:r>
              <a:rPr lang="en-US" b="1" dirty="0"/>
              <a:t>Background (Why it matters)</a:t>
            </a:r>
          </a:p>
        </p:txBody>
      </p:sp>
      <p:sp>
        <p:nvSpPr>
          <p:cNvPr id="3" name="Content Placeholder 2">
            <a:extLst>
              <a:ext uri="{FF2B5EF4-FFF2-40B4-BE49-F238E27FC236}">
                <a16:creationId xmlns:a16="http://schemas.microsoft.com/office/drawing/2014/main" id="{3243B589-CE81-AAF5-65A7-C3BA4047E376}"/>
              </a:ext>
            </a:extLst>
          </p:cNvPr>
          <p:cNvSpPr>
            <a:spLocks noGrp="1"/>
          </p:cNvSpPr>
          <p:nvPr>
            <p:ph idx="1"/>
          </p:nvPr>
        </p:nvSpPr>
        <p:spPr>
          <a:xfrm>
            <a:off x="671946" y="1253331"/>
            <a:ext cx="10515600" cy="4351338"/>
          </a:xfrm>
        </p:spPr>
        <p:txBody>
          <a:bodyPr/>
          <a:lstStyle/>
          <a:p>
            <a:pPr marL="0" indent="0">
              <a:buNone/>
            </a:pPr>
            <a:endParaRPr lang="en-US" dirty="0"/>
          </a:p>
          <a:p>
            <a:r>
              <a:rPr lang="en-US" sz="2200" dirty="0">
                <a:latin typeface="Abadi" panose="020B0604020104020204" pitchFamily="34" charset="77"/>
              </a:rPr>
              <a:t>Real‑world AI requires more than just a model</a:t>
            </a:r>
          </a:p>
          <a:p>
            <a:r>
              <a:rPr lang="en-US" sz="2200" dirty="0">
                <a:latin typeface="Abadi" panose="020B0604020104020204" pitchFamily="34" charset="77"/>
              </a:rPr>
              <a:t>Highlights the engineering mindset behind scalable, maintainable AI systems</a:t>
            </a:r>
          </a:p>
          <a:p>
            <a:r>
              <a:rPr lang="en-US" sz="2200" dirty="0">
                <a:latin typeface="Abadi" panose="020B0604020104020204" pitchFamily="34" charset="77"/>
              </a:rPr>
              <a:t>Demonstrates alignment between technical workflows and business objectives</a:t>
            </a:r>
          </a:p>
          <a:p>
            <a:endParaRPr lang="en-US" dirty="0"/>
          </a:p>
        </p:txBody>
      </p:sp>
    </p:spTree>
    <p:extLst>
      <p:ext uri="{BB962C8B-B14F-4D97-AF65-F5344CB8AC3E}">
        <p14:creationId xmlns:p14="http://schemas.microsoft.com/office/powerpoint/2010/main" val="254469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12BBC-10D5-3A7D-DB23-481FF86F7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0E79A-29D5-83E4-F562-0DB61A8CBFEC}"/>
              </a:ext>
            </a:extLst>
          </p:cNvPr>
          <p:cNvSpPr>
            <a:spLocks noGrp="1"/>
          </p:cNvSpPr>
          <p:nvPr>
            <p:ph type="title"/>
          </p:nvPr>
        </p:nvSpPr>
        <p:spPr/>
        <p:txBody>
          <a:bodyPr/>
          <a:lstStyle/>
          <a:p>
            <a:pPr>
              <a:spcBef>
                <a:spcPts val="1400"/>
              </a:spcBef>
            </a:pPr>
            <a:r>
              <a:rPr lang="en-US" dirty="0">
                <a:solidFill>
                  <a:schemeClr val="accent3">
                    <a:lumMod val="25000"/>
                  </a:schemeClr>
                </a:solidFill>
                <a:latin typeface="Abadi" panose="020B0604020104020204" pitchFamily="34" charset="0"/>
              </a:rPr>
              <a:t>Problem statement and hypothesis</a:t>
            </a:r>
          </a:p>
        </p:txBody>
      </p:sp>
      <p:sp>
        <p:nvSpPr>
          <p:cNvPr id="3" name="Content Placeholder 2">
            <a:extLst>
              <a:ext uri="{FF2B5EF4-FFF2-40B4-BE49-F238E27FC236}">
                <a16:creationId xmlns:a16="http://schemas.microsoft.com/office/drawing/2014/main" id="{7D0E1277-6602-AAA7-FCCC-93B929B46368}"/>
              </a:ext>
            </a:extLst>
          </p:cNvPr>
          <p:cNvSpPr>
            <a:spLocks noGrp="1"/>
          </p:cNvSpPr>
          <p:nvPr>
            <p:ph idx="1"/>
          </p:nvPr>
        </p:nvSpPr>
        <p:spPr/>
        <p:txBody>
          <a:bodyPr/>
          <a:lstStyle/>
          <a:p>
            <a:r>
              <a:rPr lang="en-US" sz="2200" dirty="0">
                <a:latin typeface="Abadi" panose="020B0604020104020204" pitchFamily="34" charset="77"/>
              </a:rPr>
              <a:t>Users struggle to find relevant items in large catalogs due to information overload.</a:t>
            </a:r>
          </a:p>
          <a:p>
            <a:r>
              <a:rPr lang="en-US" sz="2200" dirty="0">
                <a:latin typeface="Abadi" panose="020B0604020104020204" pitchFamily="34" charset="77"/>
              </a:rPr>
              <a:t>Existing recommendation methods may fail due to sparse user–item interactions.</a:t>
            </a:r>
          </a:p>
          <a:p>
            <a:r>
              <a:rPr lang="en-US" sz="2200" dirty="0">
                <a:latin typeface="Abadi" panose="020B0604020104020204" pitchFamily="34" charset="77"/>
              </a:rPr>
              <a:t>Cold‑start issues arise for new users or new items with limited historical data.</a:t>
            </a:r>
          </a:p>
          <a:p>
            <a:r>
              <a:rPr lang="en-US" sz="2200" dirty="0">
                <a:latin typeface="Abadi" panose="020B0604020104020204" pitchFamily="34" charset="77"/>
              </a:rPr>
              <a:t>The goal is to build a system that delivers personalized, accurate, and scalable recommendations.</a:t>
            </a:r>
          </a:p>
          <a:p>
            <a:endParaRPr lang="en-US" dirty="0"/>
          </a:p>
        </p:txBody>
      </p:sp>
    </p:spTree>
    <p:extLst>
      <p:ext uri="{BB962C8B-B14F-4D97-AF65-F5344CB8AC3E}">
        <p14:creationId xmlns:p14="http://schemas.microsoft.com/office/powerpoint/2010/main" val="1410374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D70BA-045B-AD1D-C0C4-FF1287FAB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76576-FE20-10FF-82C2-18FEC61E599A}"/>
              </a:ext>
            </a:extLst>
          </p:cNvPr>
          <p:cNvSpPr>
            <a:spLocks noGrp="1"/>
          </p:cNvSpPr>
          <p:nvPr>
            <p:ph type="title"/>
          </p:nvPr>
        </p:nvSpPr>
        <p:spPr/>
        <p:txBody>
          <a:bodyPr/>
          <a:lstStyle/>
          <a:p>
            <a:pPr>
              <a:spcBef>
                <a:spcPts val="1400"/>
              </a:spcBef>
            </a:pPr>
            <a:r>
              <a:rPr lang="en-US" dirty="0">
                <a:solidFill>
                  <a:schemeClr val="accent3">
                    <a:lumMod val="25000"/>
                  </a:schemeClr>
                </a:solidFill>
                <a:latin typeface="Abadi" panose="020B0604020104020204" pitchFamily="34" charset="0"/>
              </a:rPr>
              <a:t>Problem statement and hypothesis (2)</a:t>
            </a:r>
          </a:p>
        </p:txBody>
      </p:sp>
      <p:sp>
        <p:nvSpPr>
          <p:cNvPr id="3" name="Content Placeholder 2">
            <a:extLst>
              <a:ext uri="{FF2B5EF4-FFF2-40B4-BE49-F238E27FC236}">
                <a16:creationId xmlns:a16="http://schemas.microsoft.com/office/drawing/2014/main" id="{7236F81A-E24D-8BF9-1DDA-93003AF32853}"/>
              </a:ext>
            </a:extLst>
          </p:cNvPr>
          <p:cNvSpPr>
            <a:spLocks noGrp="1"/>
          </p:cNvSpPr>
          <p:nvPr>
            <p:ph idx="1"/>
          </p:nvPr>
        </p:nvSpPr>
        <p:spPr/>
        <p:txBody>
          <a:bodyPr/>
          <a:lstStyle/>
          <a:p>
            <a:r>
              <a:rPr lang="en-US" sz="2200" dirty="0">
                <a:latin typeface="Abadi" panose="020B0604020104020204" pitchFamily="34" charset="77"/>
              </a:rPr>
              <a:t>A content‑based model can generate relevant recommendations even with limited user history by leveraging item metadata.</a:t>
            </a:r>
          </a:p>
          <a:p>
            <a:r>
              <a:rPr lang="en-US" sz="2200" dirty="0">
                <a:latin typeface="Abadi" panose="020B0604020104020204" pitchFamily="34" charset="77"/>
              </a:rPr>
              <a:t>A collaborative‑filtering model can learn deeper behavioral patterns and improve accuracy when sufficient interaction data exists.</a:t>
            </a:r>
          </a:p>
          <a:p>
            <a:r>
              <a:rPr lang="en-US" sz="2200" dirty="0">
                <a:latin typeface="Abadi" panose="020B0604020104020204" pitchFamily="34" charset="77"/>
              </a:rPr>
              <a:t>Combining insights from both approaches will produce a more robust and generalizable recommender system.</a:t>
            </a:r>
          </a:p>
        </p:txBody>
      </p:sp>
    </p:spTree>
    <p:extLst>
      <p:ext uri="{BB962C8B-B14F-4D97-AF65-F5344CB8AC3E}">
        <p14:creationId xmlns:p14="http://schemas.microsoft.com/office/powerpoint/2010/main" val="1944532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33055" y="5553777"/>
            <a:ext cx="1028790" cy="1028790"/>
          </a:xfrm>
          <a:prstGeom prst="rect">
            <a:avLst/>
          </a:prstGeom>
        </p:spPr>
      </p:pic>
    </p:spTree>
    <p:extLst>
      <p:ext uri="{BB962C8B-B14F-4D97-AF65-F5344CB8AC3E}">
        <p14:creationId xmlns:p14="http://schemas.microsoft.com/office/powerpoint/2010/main" val="3608834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counts per genre</a:t>
            </a:r>
          </a:p>
        </p:txBody>
      </p:sp>
      <p:sp>
        <p:nvSpPr>
          <p:cNvPr id="8" name="Content Placeholder 4">
            <a:extLst>
              <a:ext uri="{FF2B5EF4-FFF2-40B4-BE49-F238E27FC236}">
                <a16:creationId xmlns:a16="http://schemas.microsoft.com/office/drawing/2014/main" id="{8653FA46-2212-42E4-9D89-321A9B15A6C2}"/>
              </a:ext>
            </a:extLst>
          </p:cNvPr>
          <p:cNvSpPr txBox="1">
            <a:spLocks/>
          </p:cNvSpPr>
          <p:nvPr/>
        </p:nvSpPr>
        <p:spPr>
          <a:xfrm>
            <a:off x="855663" y="969818"/>
            <a:ext cx="10515600" cy="4834217"/>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endParaRPr lang="en-US" sz="2200" dirty="0">
              <a:solidFill>
                <a:srgbClr val="1C7DDB"/>
              </a:solidFill>
              <a:latin typeface="Abadi"/>
            </a:endParaRPr>
          </a:p>
          <a:p>
            <a:pPr>
              <a:buFontTx/>
              <a:buChar char="-"/>
            </a:pPr>
            <a:endParaRPr lang="en-US" sz="2200" dirty="0">
              <a:solidFill>
                <a:srgbClr val="1C7DDB"/>
              </a:solidFill>
              <a:latin typeface="Abadi"/>
            </a:endParaRPr>
          </a:p>
        </p:txBody>
      </p:sp>
      <p:pic>
        <p:nvPicPr>
          <p:cNvPr id="7" name="Picture 6" descr="A green and white graph&#10;&#10;AI-generated content may be incorrect.">
            <a:extLst>
              <a:ext uri="{FF2B5EF4-FFF2-40B4-BE49-F238E27FC236}">
                <a16:creationId xmlns:a16="http://schemas.microsoft.com/office/drawing/2014/main" id="{0FB52CF0-5978-79A9-00A9-050AB232B34C}"/>
              </a:ext>
            </a:extLst>
          </p:cNvPr>
          <p:cNvPicPr>
            <a:picLocks noChangeAspect="1"/>
          </p:cNvPicPr>
          <p:nvPr/>
        </p:nvPicPr>
        <p:blipFill>
          <a:blip r:embed="rId3"/>
          <a:stretch>
            <a:fillRect/>
          </a:stretch>
        </p:blipFill>
        <p:spPr>
          <a:xfrm>
            <a:off x="820737" y="865401"/>
            <a:ext cx="10515600" cy="4834216"/>
          </a:xfrm>
          <a:prstGeom prst="rect">
            <a:avLst/>
          </a:prstGeom>
        </p:spPr>
      </p:pic>
    </p:spTree>
    <p:extLst>
      <p:ext uri="{BB962C8B-B14F-4D97-AF65-F5344CB8AC3E}">
        <p14:creationId xmlns:p14="http://schemas.microsoft.com/office/powerpoint/2010/main" val="27655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200" y="365125"/>
            <a:ext cx="10515600" cy="701675"/>
          </a:xfrm>
        </p:spPr>
        <p:txBody>
          <a:bodyPr/>
          <a:lstStyle/>
          <a:p>
            <a:r>
              <a:rPr lang="en-US" sz="4000" dirty="0">
                <a:solidFill>
                  <a:srgbClr val="0B49CB"/>
                </a:solidFill>
                <a:latin typeface="Abadi"/>
              </a:rPr>
              <a:t>Course enrollment distribution</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12919" y="952364"/>
            <a:ext cx="10515600" cy="247663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endParaRPr lang="en-US" sz="2200" dirty="0">
              <a:solidFill>
                <a:srgbClr val="1C7DDB"/>
              </a:solidFill>
              <a:latin typeface="Abadi"/>
              <a:cs typeface="Calibri"/>
            </a:endParaRPr>
          </a:p>
        </p:txBody>
      </p:sp>
      <p:pic>
        <p:nvPicPr>
          <p:cNvPr id="8" name="Picture 7" descr="A graph of a course enrollment distribution&#10;&#10;AI-generated content may be incorrect.">
            <a:extLst>
              <a:ext uri="{FF2B5EF4-FFF2-40B4-BE49-F238E27FC236}">
                <a16:creationId xmlns:a16="http://schemas.microsoft.com/office/drawing/2014/main" id="{DA3D8A8C-97CF-2105-1F95-132200B0B8E0}"/>
              </a:ext>
            </a:extLst>
          </p:cNvPr>
          <p:cNvPicPr>
            <a:picLocks noChangeAspect="1"/>
          </p:cNvPicPr>
          <p:nvPr/>
        </p:nvPicPr>
        <p:blipFill>
          <a:blip r:embed="rId3"/>
          <a:stretch>
            <a:fillRect/>
          </a:stretch>
        </p:blipFill>
        <p:spPr>
          <a:xfrm>
            <a:off x="612919" y="1066800"/>
            <a:ext cx="10480674" cy="5122854"/>
          </a:xfrm>
          <a:prstGeom prst="rect">
            <a:avLst/>
          </a:prstGeom>
        </p:spPr>
      </p:pic>
    </p:spTree>
    <p:extLst>
      <p:ext uri="{BB962C8B-B14F-4D97-AF65-F5344CB8AC3E}">
        <p14:creationId xmlns:p14="http://schemas.microsoft.com/office/powerpoint/2010/main" val="2945704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20 most popular courses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717117" y="1238108"/>
            <a:ext cx="10515600" cy="461813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endParaRPr lang="en-US" sz="2000" dirty="0">
              <a:solidFill>
                <a:srgbClr val="1C7DDB"/>
              </a:solidFill>
              <a:latin typeface="Abadi"/>
            </a:endParaRPr>
          </a:p>
          <a:p>
            <a:pPr>
              <a:buFontTx/>
              <a:buChar char="-"/>
            </a:pPr>
            <a:endParaRPr lang="en-US" sz="2200" dirty="0">
              <a:solidFill>
                <a:srgbClr val="1C7DDB"/>
              </a:solidFill>
              <a:latin typeface="Abadi"/>
              <a:cs typeface="Calibri"/>
            </a:endParaRPr>
          </a:p>
        </p:txBody>
      </p:sp>
      <p:pic>
        <p:nvPicPr>
          <p:cNvPr id="8" name="Picture 7" descr="A screen shot of a computer code&#10;&#10;AI-generated content may be incorrect.">
            <a:extLst>
              <a:ext uri="{FF2B5EF4-FFF2-40B4-BE49-F238E27FC236}">
                <a16:creationId xmlns:a16="http://schemas.microsoft.com/office/drawing/2014/main" id="{7CCECE02-3707-A85F-2112-DF0740296FDA}"/>
              </a:ext>
            </a:extLst>
          </p:cNvPr>
          <p:cNvPicPr>
            <a:picLocks noChangeAspect="1"/>
          </p:cNvPicPr>
          <p:nvPr/>
        </p:nvPicPr>
        <p:blipFill>
          <a:blip r:embed="rId3"/>
          <a:stretch>
            <a:fillRect/>
          </a:stretch>
        </p:blipFill>
        <p:spPr>
          <a:xfrm>
            <a:off x="717117" y="1238108"/>
            <a:ext cx="10920701" cy="4489591"/>
          </a:xfrm>
          <a:prstGeom prst="rect">
            <a:avLst/>
          </a:prstGeom>
        </p:spPr>
      </p:pic>
    </p:spTree>
    <p:extLst>
      <p:ext uri="{BB962C8B-B14F-4D97-AF65-F5344CB8AC3E}">
        <p14:creationId xmlns:p14="http://schemas.microsoft.com/office/powerpoint/2010/main" val="2818796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Word cloud of course titles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a:buFontTx/>
              <a:buChar char="-"/>
            </a:pPr>
            <a:endParaRPr lang="en-US" sz="2000" dirty="0">
              <a:solidFill>
                <a:srgbClr val="1C7DDB"/>
              </a:solidFill>
              <a:latin typeface="Abadi"/>
              <a:cs typeface="Calibri"/>
            </a:endParaRPr>
          </a:p>
        </p:txBody>
      </p:sp>
      <p:pic>
        <p:nvPicPr>
          <p:cNvPr id="3" name="Picture 2" descr="A close-up of words&#10;&#10;AI-generated content may be incorrect.">
            <a:extLst>
              <a:ext uri="{FF2B5EF4-FFF2-40B4-BE49-F238E27FC236}">
                <a16:creationId xmlns:a16="http://schemas.microsoft.com/office/drawing/2014/main" id="{F65771C8-A3C5-42AB-97F9-92002FBB4E08}"/>
              </a:ext>
            </a:extLst>
          </p:cNvPr>
          <p:cNvPicPr>
            <a:picLocks noChangeAspect="1"/>
          </p:cNvPicPr>
          <p:nvPr/>
        </p:nvPicPr>
        <p:blipFill>
          <a:blip r:embed="rId3"/>
          <a:stretch>
            <a:fillRect/>
          </a:stretch>
        </p:blipFill>
        <p:spPr>
          <a:xfrm>
            <a:off x="855663" y="1053965"/>
            <a:ext cx="10740592" cy="5194436"/>
          </a:xfrm>
          <a:prstGeom prst="rect">
            <a:avLst/>
          </a:prstGeom>
        </p:spPr>
      </p:pic>
    </p:spTree>
    <p:extLst>
      <p:ext uri="{BB962C8B-B14F-4D97-AF65-F5344CB8AC3E}">
        <p14:creationId xmlns:p14="http://schemas.microsoft.com/office/powerpoint/2010/main" val="1268933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200" y="365125"/>
            <a:ext cx="10515600" cy="2216041"/>
          </a:xfrm>
        </p:spPr>
        <p:txBody>
          <a:bodyPr/>
          <a:lstStyle/>
          <a:p>
            <a:r>
              <a:rPr lang="en-US" sz="4000" dirty="0">
                <a:solidFill>
                  <a:srgbClr val="0B49CB"/>
                </a:solidFill>
                <a:latin typeface="Abadi"/>
              </a:rPr>
              <a:t>Flowchart of content-based recommender system using user profile and course genres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353568" y="-979055"/>
            <a:ext cx="10413909" cy="2548045"/>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a:stCxn id="30" idx="3"/>
          </p:cNvCxnSpPr>
          <p:nvPr/>
        </p:nvCxnSpPr>
        <p:spPr>
          <a:xfrm>
            <a:off x="1999488" y="2756109"/>
            <a:ext cx="224345" cy="16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4483790" y="2483401"/>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Build user profile vector</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6548901" y="3763394"/>
            <a:ext cx="1840766" cy="101851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Recommended courses</a:t>
            </a:r>
          </a:p>
        </p:txBody>
      </p:sp>
      <p:sp>
        <p:nvSpPr>
          <p:cNvPr id="10" name="Rectangle 9">
            <a:extLst>
              <a:ext uri="{FF2B5EF4-FFF2-40B4-BE49-F238E27FC236}">
                <a16:creationId xmlns:a16="http://schemas.microsoft.com/office/drawing/2014/main" id="{BC66C45B-081E-7045-A932-30AF89330AF5}"/>
              </a:ext>
            </a:extLst>
          </p:cNvPr>
          <p:cNvSpPr/>
          <p:nvPr/>
        </p:nvSpPr>
        <p:spPr>
          <a:xfrm>
            <a:off x="2223833" y="2420837"/>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Extract genres</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064599" y="2757721"/>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6548901" y="2248181"/>
            <a:ext cx="1840766" cy="846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Compare with course genre matrix</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129710" y="2756109"/>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8816939" y="2139402"/>
            <a:ext cx="1645920" cy="101851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Cosine similarity scoring</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8389667" y="2756109"/>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86AC86D-4E1E-75CA-9877-EF0C0BFD570D}"/>
              </a:ext>
            </a:extLst>
          </p:cNvPr>
          <p:cNvCxnSpPr>
            <a:cxnSpLocks/>
            <a:stCxn id="15" idx="2"/>
            <a:endCxn id="19" idx="0"/>
          </p:cNvCxnSpPr>
          <p:nvPr/>
        </p:nvCxnSpPr>
        <p:spPr>
          <a:xfrm>
            <a:off x="9639899" y="3157921"/>
            <a:ext cx="0" cy="61863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2DB80180-221A-3A1C-262B-E4941C9D2C06}"/>
              </a:ext>
            </a:extLst>
          </p:cNvPr>
          <p:cNvSpPr/>
          <p:nvPr/>
        </p:nvSpPr>
        <p:spPr>
          <a:xfrm>
            <a:off x="8816939" y="3776558"/>
            <a:ext cx="1645920" cy="101851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Rank + Filter</a:t>
            </a:r>
          </a:p>
        </p:txBody>
      </p:sp>
      <p:cxnSp>
        <p:nvCxnSpPr>
          <p:cNvPr id="20" name="Straight Arrow Connector 19">
            <a:extLst>
              <a:ext uri="{FF2B5EF4-FFF2-40B4-BE49-F238E27FC236}">
                <a16:creationId xmlns:a16="http://schemas.microsoft.com/office/drawing/2014/main" id="{58ABB1CB-8B5F-75EC-44D4-3504DD6AD011}"/>
              </a:ext>
            </a:extLst>
          </p:cNvPr>
          <p:cNvCxnSpPr>
            <a:cxnSpLocks/>
          </p:cNvCxnSpPr>
          <p:nvPr/>
        </p:nvCxnSpPr>
        <p:spPr>
          <a:xfrm flipH="1" flipV="1">
            <a:off x="8389667" y="3930419"/>
            <a:ext cx="427272" cy="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BF9B8C9E-1F78-983C-F435-B6278073428C}"/>
              </a:ext>
            </a:extLst>
          </p:cNvPr>
          <p:cNvSpPr/>
          <p:nvPr/>
        </p:nvSpPr>
        <p:spPr>
          <a:xfrm>
            <a:off x="353568" y="2481789"/>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User selects course </a:t>
            </a:r>
          </a:p>
        </p:txBody>
      </p:sp>
    </p:spTree>
    <p:extLst>
      <p:ext uri="{BB962C8B-B14F-4D97-AF65-F5344CB8AC3E}">
        <p14:creationId xmlns:p14="http://schemas.microsoft.com/office/powerpoint/2010/main" val="2157654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user profile-based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633594" y="2978727"/>
            <a:ext cx="4720206" cy="3514148"/>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r>
              <a:rPr lang="en-US" sz="2000" dirty="0">
                <a:solidFill>
                  <a:srgbClr val="1C7DDB"/>
                </a:solidFill>
                <a:latin typeface="Abadi"/>
              </a:rPr>
              <a:t>What are the most frequently recommended courses? Return the top-10 commonly recommended courses across all users</a:t>
            </a: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2978727"/>
            <a:ext cx="4720206" cy="3514147"/>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latin typeface="Abadi" panose="020B0604020104020204" pitchFamily="34" charset="77"/>
              </a:rPr>
              <a:t>Average new courses recommended per user:</a:t>
            </a:r>
            <a:r>
              <a:rPr lang="en-US" sz="2400" dirty="0">
                <a:latin typeface="Abadi" panose="020B0604020104020204" pitchFamily="34" charset="77"/>
              </a:rPr>
              <a:t> 1.00  </a:t>
            </a:r>
          </a:p>
          <a:p>
            <a:r>
              <a:rPr lang="en-US" sz="2400" dirty="0">
                <a:latin typeface="Abadi" panose="020B0604020104020204" pitchFamily="34" charset="77"/>
              </a:rPr>
              <a:t>This indicates that the recommender system provides focused, high‑precision suggestions aligned closely with the user’s selected course genres.</a:t>
            </a: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510145"/>
            <a:ext cx="10419966" cy="1325563"/>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latin typeface="Abadi" panose="020B0604020104020204" pitchFamily="34" charset="77"/>
              </a:rPr>
              <a:t>Similarity threshold: e.g., 0.4</a:t>
            </a:r>
          </a:p>
          <a:p>
            <a:r>
              <a:rPr lang="en-US" sz="2200" dirty="0">
                <a:latin typeface="Abadi" panose="020B0604020104020204" pitchFamily="34" charset="77"/>
              </a:rPr>
              <a:t>Top-N recommendations: e.g., N = 5</a:t>
            </a:r>
          </a:p>
          <a:p>
            <a:r>
              <a:rPr lang="en-US" sz="2200" dirty="0">
                <a:latin typeface="Abadi" panose="020B0604020104020204" pitchFamily="34" charset="77"/>
              </a:rPr>
              <a:t>Filtering logic: exclude already-enrolled courses</a:t>
            </a:r>
          </a:p>
        </p:txBody>
      </p:sp>
      <p:pic>
        <p:nvPicPr>
          <p:cNvPr id="3" name="Picture 2" descr="A graph of blue bars&#10;&#10;AI-generated content may be incorrect.">
            <a:extLst>
              <a:ext uri="{FF2B5EF4-FFF2-40B4-BE49-F238E27FC236}">
                <a16:creationId xmlns:a16="http://schemas.microsoft.com/office/drawing/2014/main" id="{D638CEBF-A607-8CA3-A4F7-4FEA8A761BF0}"/>
              </a:ext>
            </a:extLst>
          </p:cNvPr>
          <p:cNvPicPr>
            <a:picLocks noChangeAspect="1"/>
          </p:cNvPicPr>
          <p:nvPr/>
        </p:nvPicPr>
        <p:blipFill>
          <a:blip r:embed="rId3"/>
          <a:stretch>
            <a:fillRect/>
          </a:stretch>
        </p:blipFill>
        <p:spPr>
          <a:xfrm>
            <a:off x="5654040" y="2835708"/>
            <a:ext cx="5699760" cy="3620021"/>
          </a:xfrm>
          <a:prstGeom prst="rect">
            <a:avLst/>
          </a:prstGeom>
        </p:spPr>
      </p:pic>
    </p:spTree>
    <p:extLst>
      <p:ext uri="{BB962C8B-B14F-4D97-AF65-F5344CB8AC3E}">
        <p14:creationId xmlns:p14="http://schemas.microsoft.com/office/powerpoint/2010/main" val="3024823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content-based recommender system using course similarity</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490472"/>
            <a:ext cx="10515600" cy="4535423"/>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2518007"/>
            <a:ext cx="38538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1824228"/>
            <a:ext cx="1645920" cy="386334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b="1" dirty="0">
              <a:solidFill>
                <a:schemeClr val="tx1"/>
              </a:solidFill>
              <a:latin typeface="Abadi" panose="020B0604020104020204" pitchFamily="34" charset="77"/>
            </a:endParaRPr>
          </a:p>
          <a:p>
            <a:endParaRPr lang="en-US" sz="1400" b="1" dirty="0">
              <a:solidFill>
                <a:schemeClr val="tx1"/>
              </a:solidFill>
              <a:latin typeface="Abadi" panose="020B0604020104020204" pitchFamily="34" charset="77"/>
            </a:endParaRPr>
          </a:p>
          <a:p>
            <a:r>
              <a:rPr lang="en-US" sz="1400" b="1" dirty="0">
                <a:solidFill>
                  <a:schemeClr val="tx1"/>
                </a:solidFill>
                <a:latin typeface="Abadi" panose="020B0604020104020204" pitchFamily="34" charset="77"/>
              </a:rPr>
              <a:t>3.Aggregate Similarities</a:t>
            </a:r>
          </a:p>
          <a:p>
            <a:pPr marL="285750" lvl="0" indent="-285750">
              <a:buFont typeface="Arial" panose="020B0604020202020204" pitchFamily="34" charset="0"/>
              <a:buChar char="•"/>
            </a:pPr>
            <a:r>
              <a:rPr lang="en-US" sz="1400" dirty="0">
                <a:solidFill>
                  <a:schemeClr val="tx1"/>
                </a:solidFill>
                <a:latin typeface="Abadi" panose="020B0604020104020204" pitchFamily="34" charset="77"/>
              </a:rPr>
              <a:t>For each selected course: Retrieve similarity scores to all other courses</a:t>
            </a:r>
          </a:p>
          <a:p>
            <a:pPr marL="285750" lvl="0" indent="-285750">
              <a:buFont typeface="Arial" panose="020B0604020202020204" pitchFamily="34" charset="0"/>
              <a:buChar char="•"/>
            </a:pPr>
            <a:r>
              <a:rPr lang="en-US" sz="1400" dirty="0">
                <a:solidFill>
                  <a:schemeClr val="tx1"/>
                </a:solidFill>
                <a:latin typeface="Abadi" panose="020B0604020104020204" pitchFamily="34" charset="77"/>
              </a:rPr>
              <a:t>Combine scores across selected courses(e.g., sum or average similarity</a:t>
            </a:r>
            <a:r>
              <a:rPr lang="en-US" dirty="0">
                <a:solidFill>
                  <a:schemeClr val="tx1"/>
                </a:solidFill>
              </a:rPr>
              <a:t> </a:t>
            </a:r>
            <a:r>
              <a:rPr lang="en-US" dirty="0"/>
              <a:t>vectors)</a:t>
            </a:r>
          </a:p>
          <a:p>
            <a:pPr marL="285750" indent="-285750">
              <a:buFont typeface="Arial" panose="020B0604020202020204" pitchFamily="34" charset="0"/>
              <a:buChar char="•"/>
            </a:pPr>
            <a:endParaRPr lang="en-US" b="1" dirty="0">
              <a:solidFill>
                <a:schemeClr val="tx1"/>
              </a:solidFill>
            </a:endParaRP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1824227"/>
            <a:ext cx="1645920" cy="386334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1.User profile input</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User selects one or more courses </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System retrieves selected course ID’s</a:t>
            </a:r>
            <a:r>
              <a:rPr lang="en-US" sz="1400" dirty="0">
                <a:latin typeface="Abadi" panose="020B0604020104020204" pitchFamily="34" charset="77"/>
              </a:rPr>
              <a:t>urse </a:t>
            </a:r>
            <a:r>
              <a:rPr lang="en-US" dirty="0"/>
              <a:t>IDs</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p:txBody>
      </p:sp>
      <p:sp>
        <p:nvSpPr>
          <p:cNvPr id="10" name="Rectangle 9">
            <a:extLst>
              <a:ext uri="{FF2B5EF4-FFF2-40B4-BE49-F238E27FC236}">
                <a16:creationId xmlns:a16="http://schemas.microsoft.com/office/drawing/2014/main" id="{BC66C45B-081E-7045-A932-30AF89330AF5}"/>
              </a:ext>
            </a:extLst>
          </p:cNvPr>
          <p:cNvSpPr/>
          <p:nvPr/>
        </p:nvSpPr>
        <p:spPr>
          <a:xfrm>
            <a:off x="2979277" y="1855225"/>
            <a:ext cx="1840766" cy="38323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2.Load similarity matrix</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Precomputed course similarity scores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Stored in sim.csv as a matrix (rows = courses, columns = similarity scores)</a:t>
            </a: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b="1" dirty="0">
              <a:solidFill>
                <a:schemeClr val="tx1"/>
              </a:solidFill>
            </a:endParaRP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20043" y="2518007"/>
            <a:ext cx="452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128555" y="1824227"/>
            <a:ext cx="1840766" cy="38633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4.Rank courses</a:t>
            </a:r>
          </a:p>
          <a:p>
            <a:pPr marL="285750" lvl="0" indent="-285750">
              <a:buFont typeface="Arial" panose="020B0604020202020204" pitchFamily="34" charset="0"/>
              <a:buChar char="•"/>
            </a:pPr>
            <a:r>
              <a:rPr lang="en-US" sz="1400" dirty="0">
                <a:solidFill>
                  <a:schemeClr val="tx1"/>
                </a:solidFill>
                <a:latin typeface="Abadi" panose="020B0604020104020204" pitchFamily="34" charset="77"/>
              </a:rPr>
              <a:t>Sort by aggregated similarity score</a:t>
            </a:r>
          </a:p>
          <a:p>
            <a:pPr marL="285750" lvl="0" indent="-285750">
              <a:buFont typeface="Arial" panose="020B0604020202020204" pitchFamily="34" charset="0"/>
              <a:buChar char="•"/>
            </a:pPr>
            <a:r>
              <a:rPr lang="en-US" sz="1400" dirty="0">
                <a:solidFill>
                  <a:schemeClr val="tx1"/>
                </a:solidFill>
                <a:latin typeface="Abadi" panose="020B0604020104020204" pitchFamily="34" charset="77"/>
              </a:rPr>
              <a:t>Remove courses the user already selected</a:t>
            </a:r>
          </a:p>
          <a:p>
            <a:pPr lvl="0"/>
            <a:endParaRPr lang="en-US" sz="1400" dirty="0">
              <a:solidFill>
                <a:schemeClr val="tx1"/>
              </a:solidFill>
              <a:latin typeface="Abadi" panose="020B0604020104020204" pitchFamily="34" charset="77"/>
            </a:endParaRPr>
          </a:p>
          <a:p>
            <a:pPr lvl="0"/>
            <a:endParaRPr lang="en-US" sz="1400" dirty="0">
              <a:solidFill>
                <a:schemeClr val="tx1"/>
              </a:solidFill>
              <a:latin typeface="Abadi" panose="020B0604020104020204" pitchFamily="34" charset="77"/>
            </a:endParaRPr>
          </a:p>
          <a:p>
            <a:pPr lvl="0"/>
            <a:endParaRPr lang="en-US" dirty="0">
              <a:solidFill>
                <a:schemeClr val="tx1"/>
              </a:solidFill>
            </a:endParaRPr>
          </a:p>
          <a:p>
            <a:pPr lvl="0"/>
            <a:endParaRPr lang="en-US" dirty="0">
              <a:solidFill>
                <a:schemeClr val="tx1"/>
              </a:solidFill>
            </a:endParaRPr>
          </a:p>
          <a:p>
            <a:pPr lvl="0"/>
            <a:endParaRPr lang="en-US" dirty="0">
              <a:solidFill>
                <a:schemeClr val="tx1"/>
              </a:solidFill>
            </a:endParaRPr>
          </a:p>
          <a:p>
            <a:pPr lvl="0"/>
            <a:endParaRPr lang="en-US" dirty="0">
              <a:solidFill>
                <a:schemeClr val="tx1"/>
              </a:solidFill>
            </a:endParaRPr>
          </a:p>
          <a:p>
            <a:pPr lvl="0"/>
            <a:endParaRPr lang="en-US" dirty="0">
              <a:solidFill>
                <a:schemeClr val="tx1"/>
              </a:solidFill>
            </a:endParaRPr>
          </a:p>
          <a:p>
            <a:pPr lvl="0"/>
            <a:endParaRPr lang="en-US" dirty="0">
              <a:solidFill>
                <a:schemeClr val="tx1"/>
              </a:solidFill>
            </a:endParaRPr>
          </a:p>
          <a:p>
            <a:pPr algn="ctr"/>
            <a:endParaRPr lang="en-US" dirty="0">
              <a:solidFill>
                <a:schemeClr val="tx1"/>
              </a:solidFill>
            </a:endParaRP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59" y="2518007"/>
            <a:ext cx="209596"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212722" y="1824227"/>
            <a:ext cx="2031305" cy="386333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5.Output recommendations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Top N most similar courses returned</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Displayed in  Streamlit UI</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8969321" y="2531968"/>
            <a:ext cx="24340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156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course similarity-based recommender system</a:t>
            </a: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886017" y="1462088"/>
            <a:ext cx="10419966" cy="2753296"/>
          </a:xfrm>
          <a:prstGeom prst="rect">
            <a:avLst/>
          </a:prstGeom>
          <a:ln>
            <a:solidFill>
              <a:srgbClr val="0B49CB"/>
            </a:solidFill>
            <a:prstDash val="dash"/>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latin typeface="Abadi" panose="020B0604020104020204" pitchFamily="34" charset="77"/>
              </a:rPr>
              <a:t>Hyperparameters</a:t>
            </a:r>
          </a:p>
          <a:p>
            <a:r>
              <a:rPr lang="en-US" sz="1400" dirty="0">
                <a:latin typeface="Abadi" panose="020B0604020104020204" pitchFamily="34" charset="77"/>
              </a:rPr>
              <a:t>1. Similarity Threshold</a:t>
            </a:r>
          </a:p>
          <a:p>
            <a:pPr marL="0" indent="0">
              <a:buNone/>
            </a:pPr>
            <a:r>
              <a:rPr lang="en-US" sz="1400" dirty="0">
                <a:latin typeface="Abadi" panose="020B0604020104020204" pitchFamily="34" charset="77"/>
              </a:rPr>
              <a:t>Example: Similarity Threshold = 0.3</a:t>
            </a:r>
          </a:p>
          <a:p>
            <a:pPr marL="0" indent="0">
              <a:buNone/>
            </a:pPr>
            <a:r>
              <a:rPr lang="en-US" sz="1400" dirty="0">
                <a:latin typeface="Abadi" panose="020B0604020104020204" pitchFamily="34" charset="77"/>
              </a:rPr>
              <a:t>This controls how similar two courses must be to be considered a match.</a:t>
            </a:r>
          </a:p>
          <a:p>
            <a:r>
              <a:rPr lang="en-US" sz="1400" dirty="0">
                <a:latin typeface="Abadi" panose="020B0604020104020204" pitchFamily="34" charset="77"/>
              </a:rPr>
              <a:t>2. Top-N Recommendations</a:t>
            </a:r>
          </a:p>
          <a:p>
            <a:pPr marL="0" indent="0">
              <a:buNone/>
            </a:pPr>
            <a:r>
              <a:rPr lang="en-US" sz="1400" dirty="0">
                <a:latin typeface="Abadi" panose="020B0604020104020204" pitchFamily="34" charset="77"/>
              </a:rPr>
              <a:t>Example: Top N = 5</a:t>
            </a:r>
          </a:p>
          <a:p>
            <a:pPr marL="0" indent="0">
              <a:buNone/>
            </a:pPr>
            <a:r>
              <a:rPr lang="en-US" sz="1400" dirty="0">
                <a:latin typeface="Abadi" panose="020B0604020104020204" pitchFamily="34" charset="77"/>
              </a:rPr>
              <a:t>This defines how many courses are returned per user.</a:t>
            </a:r>
          </a:p>
          <a:p>
            <a:r>
              <a:rPr lang="en-US" sz="1400" dirty="0">
                <a:latin typeface="Abadi" panose="020B0604020104020204" pitchFamily="34" charset="77"/>
              </a:rPr>
              <a:t>3. Aggregation Method</a:t>
            </a:r>
          </a:p>
          <a:p>
            <a:pPr marL="0" indent="0">
              <a:buNone/>
            </a:pPr>
            <a:r>
              <a:rPr lang="en-US" sz="1400" dirty="0">
                <a:latin typeface="Abadi" panose="020B0604020104020204" pitchFamily="34" charset="77"/>
              </a:rPr>
              <a:t>Example: Sum of similarity scores across selected courses</a:t>
            </a:r>
          </a:p>
        </p:txBody>
      </p:sp>
      <p:graphicFrame>
        <p:nvGraphicFramePr>
          <p:cNvPr id="5" name="Table 4">
            <a:extLst>
              <a:ext uri="{FF2B5EF4-FFF2-40B4-BE49-F238E27FC236}">
                <a16:creationId xmlns:a16="http://schemas.microsoft.com/office/drawing/2014/main" id="{DDDBEED4-C1E7-6B07-1FDE-A043146C57F5}"/>
              </a:ext>
            </a:extLst>
          </p:cNvPr>
          <p:cNvGraphicFramePr>
            <a:graphicFrameLocks noGrp="1"/>
          </p:cNvGraphicFramePr>
          <p:nvPr>
            <p:extLst>
              <p:ext uri="{D42A27DB-BD31-4B8C-83A1-F6EECF244321}">
                <p14:modId xmlns:p14="http://schemas.microsoft.com/office/powerpoint/2010/main" val="130219545"/>
              </p:ext>
            </p:extLst>
          </p:nvPr>
        </p:nvGraphicFramePr>
        <p:xfrm>
          <a:off x="1748536" y="4297680"/>
          <a:ext cx="8128000" cy="166141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894219040"/>
                    </a:ext>
                  </a:extLst>
                </a:gridCol>
                <a:gridCol w="2032000">
                  <a:extLst>
                    <a:ext uri="{9D8B030D-6E8A-4147-A177-3AD203B41FA5}">
                      <a16:colId xmlns:a16="http://schemas.microsoft.com/office/drawing/2014/main" val="3033449855"/>
                    </a:ext>
                  </a:extLst>
                </a:gridCol>
                <a:gridCol w="2032000">
                  <a:extLst>
                    <a:ext uri="{9D8B030D-6E8A-4147-A177-3AD203B41FA5}">
                      <a16:colId xmlns:a16="http://schemas.microsoft.com/office/drawing/2014/main" val="434052888"/>
                    </a:ext>
                  </a:extLst>
                </a:gridCol>
                <a:gridCol w="2032000">
                  <a:extLst>
                    <a:ext uri="{9D8B030D-6E8A-4147-A177-3AD203B41FA5}">
                      <a16:colId xmlns:a16="http://schemas.microsoft.com/office/drawing/2014/main" val="1205896792"/>
                    </a:ext>
                  </a:extLst>
                </a:gridCol>
              </a:tblGrid>
              <a:tr h="448056">
                <a:tc>
                  <a:txBody>
                    <a:bodyPr/>
                    <a:lstStyle/>
                    <a:p>
                      <a:r>
                        <a:rPr lang="en-US" dirty="0"/>
                        <a:t>Threshold</a:t>
                      </a:r>
                    </a:p>
                  </a:txBody>
                  <a:tcPr/>
                </a:tc>
                <a:tc>
                  <a:txBody>
                    <a:bodyPr/>
                    <a:lstStyle/>
                    <a:p>
                      <a:r>
                        <a:rPr lang="en-US" dirty="0"/>
                        <a:t>Avg new courses </a:t>
                      </a:r>
                    </a:p>
                  </a:txBody>
                  <a:tcPr/>
                </a:tc>
                <a:tc>
                  <a:txBody>
                    <a:bodyPr/>
                    <a:lstStyle/>
                    <a:p>
                      <a:r>
                        <a:rPr lang="en-US" dirty="0"/>
                        <a:t>Precision </a:t>
                      </a:r>
                    </a:p>
                  </a:txBody>
                  <a:tcPr/>
                </a:tc>
                <a:tc>
                  <a:txBody>
                    <a:bodyPr/>
                    <a:lstStyle/>
                    <a:p>
                      <a:r>
                        <a:rPr lang="en-US" dirty="0"/>
                        <a:t>Recall</a:t>
                      </a:r>
                    </a:p>
                  </a:txBody>
                  <a:tcPr/>
                </a:tc>
                <a:extLst>
                  <a:ext uri="{0D108BD9-81ED-4DB2-BD59-A6C34878D82A}">
                    <a16:rowId xmlns:a16="http://schemas.microsoft.com/office/drawing/2014/main" val="1617714549"/>
                  </a:ext>
                </a:extLst>
              </a:tr>
              <a:tr h="404452">
                <a:tc>
                  <a:txBody>
                    <a:bodyPr/>
                    <a:lstStyle/>
                    <a:p>
                      <a:r>
                        <a:rPr lang="en-US" dirty="0"/>
                        <a:t>0.2</a:t>
                      </a:r>
                    </a:p>
                  </a:txBody>
                  <a:tcPr/>
                </a:tc>
                <a:tc>
                  <a:txBody>
                    <a:bodyPr/>
                    <a:lstStyle/>
                    <a:p>
                      <a:r>
                        <a:rPr lang="en-US" dirty="0"/>
                        <a:t>6.2</a:t>
                      </a:r>
                    </a:p>
                  </a:txBody>
                  <a:tcPr/>
                </a:tc>
                <a:tc>
                  <a:txBody>
                    <a:bodyPr/>
                    <a:lstStyle/>
                    <a:p>
                      <a:r>
                        <a:rPr lang="en-US" dirty="0"/>
                        <a:t>0.71</a:t>
                      </a:r>
                    </a:p>
                  </a:txBody>
                  <a:tcPr/>
                </a:tc>
                <a:tc>
                  <a:txBody>
                    <a:bodyPr/>
                    <a:lstStyle/>
                    <a:p>
                      <a:r>
                        <a:rPr lang="en-US" dirty="0"/>
                        <a:t>0.65</a:t>
                      </a:r>
                    </a:p>
                  </a:txBody>
                  <a:tcPr/>
                </a:tc>
                <a:extLst>
                  <a:ext uri="{0D108BD9-81ED-4DB2-BD59-A6C34878D82A}">
                    <a16:rowId xmlns:a16="http://schemas.microsoft.com/office/drawing/2014/main" val="1477990636"/>
                  </a:ext>
                </a:extLst>
              </a:tr>
              <a:tr h="404452">
                <a:tc>
                  <a:txBody>
                    <a:bodyPr/>
                    <a:lstStyle/>
                    <a:p>
                      <a:r>
                        <a:rPr lang="en-US" dirty="0"/>
                        <a:t>0.3</a:t>
                      </a:r>
                    </a:p>
                  </a:txBody>
                  <a:tcPr/>
                </a:tc>
                <a:tc>
                  <a:txBody>
                    <a:bodyPr/>
                    <a:lstStyle/>
                    <a:p>
                      <a:r>
                        <a:rPr lang="en-US" dirty="0"/>
                        <a:t>5.4</a:t>
                      </a:r>
                    </a:p>
                  </a:txBody>
                  <a:tcPr/>
                </a:tc>
                <a:tc>
                  <a:txBody>
                    <a:bodyPr/>
                    <a:lstStyle/>
                    <a:p>
                      <a:r>
                        <a:rPr lang="en-US" dirty="0"/>
                        <a:t>0.76</a:t>
                      </a:r>
                    </a:p>
                  </a:txBody>
                  <a:tcPr/>
                </a:tc>
                <a:tc>
                  <a:txBody>
                    <a:bodyPr/>
                    <a:lstStyle/>
                    <a:p>
                      <a:r>
                        <a:rPr lang="en-US" dirty="0"/>
                        <a:t>0.61</a:t>
                      </a:r>
                    </a:p>
                  </a:txBody>
                  <a:tcPr/>
                </a:tc>
                <a:extLst>
                  <a:ext uri="{0D108BD9-81ED-4DB2-BD59-A6C34878D82A}">
                    <a16:rowId xmlns:a16="http://schemas.microsoft.com/office/drawing/2014/main" val="2044263605"/>
                  </a:ext>
                </a:extLst>
              </a:tr>
              <a:tr h="404452">
                <a:tc>
                  <a:txBody>
                    <a:bodyPr/>
                    <a:lstStyle/>
                    <a:p>
                      <a:r>
                        <a:rPr lang="en-US" dirty="0"/>
                        <a:t>0.4</a:t>
                      </a:r>
                    </a:p>
                  </a:txBody>
                  <a:tcPr/>
                </a:tc>
                <a:tc>
                  <a:txBody>
                    <a:bodyPr/>
                    <a:lstStyle/>
                    <a:p>
                      <a:r>
                        <a:rPr lang="en-US" dirty="0"/>
                        <a:t>4.1</a:t>
                      </a:r>
                    </a:p>
                  </a:txBody>
                  <a:tcPr/>
                </a:tc>
                <a:tc>
                  <a:txBody>
                    <a:bodyPr/>
                    <a:lstStyle/>
                    <a:p>
                      <a:r>
                        <a:rPr lang="en-US" dirty="0"/>
                        <a:t>0.81</a:t>
                      </a:r>
                    </a:p>
                  </a:txBody>
                  <a:tcPr/>
                </a:tc>
                <a:tc>
                  <a:txBody>
                    <a:bodyPr/>
                    <a:lstStyle/>
                    <a:p>
                      <a:r>
                        <a:rPr lang="en-US" dirty="0"/>
                        <a:t>0.55</a:t>
                      </a:r>
                    </a:p>
                  </a:txBody>
                  <a:tcPr/>
                </a:tc>
                <a:extLst>
                  <a:ext uri="{0D108BD9-81ED-4DB2-BD59-A6C34878D82A}">
                    <a16:rowId xmlns:a16="http://schemas.microsoft.com/office/drawing/2014/main" val="1130122258"/>
                  </a:ext>
                </a:extLst>
              </a:tr>
            </a:tbl>
          </a:graphicData>
        </a:graphic>
      </p:graphicFrame>
    </p:spTree>
    <p:extLst>
      <p:ext uri="{BB962C8B-B14F-4D97-AF65-F5344CB8AC3E}">
        <p14:creationId xmlns:p14="http://schemas.microsoft.com/office/powerpoint/2010/main" val="3676389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62743-D0A3-00B3-6B73-231B69A23E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D9AA5C-ABF4-96E7-6FB6-22E7BEE0E3FD}"/>
              </a:ext>
            </a:extLst>
          </p:cNvPr>
          <p:cNvSpPr>
            <a:spLocks noGrp="1"/>
          </p:cNvSpPr>
          <p:nvPr>
            <p:ph type="title"/>
          </p:nvPr>
        </p:nvSpPr>
        <p:spPr/>
        <p:txBody>
          <a:bodyPr/>
          <a:lstStyle/>
          <a:p>
            <a:r>
              <a:rPr lang="en-US" sz="4000" dirty="0">
                <a:solidFill>
                  <a:srgbClr val="0B49CB"/>
                </a:solidFill>
                <a:latin typeface="Abadi"/>
              </a:rPr>
              <a:t>Evaluation results of course similarity-based recommender system (2)</a:t>
            </a:r>
          </a:p>
        </p:txBody>
      </p:sp>
      <p:sp>
        <p:nvSpPr>
          <p:cNvPr id="6" name="Content Placeholder 4">
            <a:extLst>
              <a:ext uri="{FF2B5EF4-FFF2-40B4-BE49-F238E27FC236}">
                <a16:creationId xmlns:a16="http://schemas.microsoft.com/office/drawing/2014/main" id="{1EE1D5C0-D36A-FC3B-B8EC-B1BA67BAA1EA}"/>
              </a:ext>
            </a:extLst>
          </p:cNvPr>
          <p:cNvSpPr txBox="1">
            <a:spLocks/>
          </p:cNvSpPr>
          <p:nvPr/>
        </p:nvSpPr>
        <p:spPr>
          <a:xfrm>
            <a:off x="6633594" y="1621593"/>
            <a:ext cx="4569708" cy="2886399"/>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400" dirty="0">
              <a:solidFill>
                <a:srgbClr val="1C7DDB"/>
              </a:solidFill>
              <a:latin typeface="Abadi"/>
            </a:endParaRPr>
          </a:p>
        </p:txBody>
      </p:sp>
      <p:sp>
        <p:nvSpPr>
          <p:cNvPr id="7" name="Content Placeholder 4">
            <a:extLst>
              <a:ext uri="{FF2B5EF4-FFF2-40B4-BE49-F238E27FC236}">
                <a16:creationId xmlns:a16="http://schemas.microsoft.com/office/drawing/2014/main" id="{24424881-D692-B179-8BF6-0232D937BD4C}"/>
              </a:ext>
            </a:extLst>
          </p:cNvPr>
          <p:cNvSpPr txBox="1">
            <a:spLocks/>
          </p:cNvSpPr>
          <p:nvPr/>
        </p:nvSpPr>
        <p:spPr>
          <a:xfrm>
            <a:off x="988698" y="1621593"/>
            <a:ext cx="4720206" cy="3391841"/>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i="1" dirty="0">
                <a:latin typeface="Abadi" panose="020B0604020104020204" pitchFamily="34" charset="77"/>
              </a:rPr>
              <a:t>Average new courses per user:</a:t>
            </a:r>
          </a:p>
          <a:p>
            <a:pPr marL="0" indent="0">
              <a:buNone/>
            </a:pPr>
            <a:endParaRPr lang="en-US" sz="1800" i="1" dirty="0">
              <a:latin typeface="Abadi" panose="020B0604020104020204" pitchFamily="34" charset="77"/>
            </a:endParaRPr>
          </a:p>
          <a:p>
            <a:pPr marL="0" indent="0">
              <a:buNone/>
            </a:pPr>
            <a:r>
              <a:rPr lang="en-US" sz="1800" b="1" i="1" dirty="0">
                <a:latin typeface="Abadi" panose="020B0604020104020204" pitchFamily="34" charset="77"/>
              </a:rPr>
              <a:t>5.0</a:t>
            </a:r>
            <a:endParaRPr lang="en-US" sz="1800" b="1" dirty="0">
              <a:latin typeface="Abadi" panose="020B0604020104020204" pitchFamily="34" charset="77"/>
            </a:endParaRPr>
          </a:p>
          <a:p>
            <a:pPr marL="0" indent="0">
              <a:buNone/>
            </a:pPr>
            <a:endParaRPr lang="en-US" sz="2400" dirty="0">
              <a:cs typeface="Calibri"/>
            </a:endParaRPr>
          </a:p>
        </p:txBody>
      </p:sp>
      <p:sp>
        <p:nvSpPr>
          <p:cNvPr id="3" name="TextBox 2">
            <a:extLst>
              <a:ext uri="{FF2B5EF4-FFF2-40B4-BE49-F238E27FC236}">
                <a16:creationId xmlns:a16="http://schemas.microsoft.com/office/drawing/2014/main" id="{1E6101A7-1F09-8FFA-BACE-5A7839849B52}"/>
              </a:ext>
            </a:extLst>
          </p:cNvPr>
          <p:cNvSpPr txBox="1"/>
          <p:nvPr/>
        </p:nvSpPr>
        <p:spPr>
          <a:xfrm>
            <a:off x="2147474" y="5167312"/>
            <a:ext cx="7333488" cy="923330"/>
          </a:xfrm>
          <a:prstGeom prst="rect">
            <a:avLst/>
          </a:prstGeom>
          <a:noFill/>
        </p:spPr>
        <p:txBody>
          <a:bodyPr wrap="square" rtlCol="0">
            <a:spAutoFit/>
          </a:bodyPr>
          <a:lstStyle/>
          <a:p>
            <a:r>
              <a:rPr lang="en-US" b="1" dirty="0"/>
              <a:t>“The system tends to recommend ML‑related courses due to strong feature clustering in the similarity matrix.”</a:t>
            </a:r>
          </a:p>
          <a:p>
            <a:endParaRPr lang="en-US" dirty="0"/>
          </a:p>
        </p:txBody>
      </p:sp>
      <p:pic>
        <p:nvPicPr>
          <p:cNvPr id="10" name="Picture 9" descr="A screen shot of a course&#10;&#10;AI-generated content may be incorrect.">
            <a:extLst>
              <a:ext uri="{FF2B5EF4-FFF2-40B4-BE49-F238E27FC236}">
                <a16:creationId xmlns:a16="http://schemas.microsoft.com/office/drawing/2014/main" id="{DD7F4171-0387-53D2-AEA1-1DBF7D028D50}"/>
              </a:ext>
            </a:extLst>
          </p:cNvPr>
          <p:cNvPicPr>
            <a:picLocks noChangeAspect="1"/>
          </p:cNvPicPr>
          <p:nvPr/>
        </p:nvPicPr>
        <p:blipFill>
          <a:blip r:embed="rId3"/>
          <a:stretch>
            <a:fillRect/>
          </a:stretch>
        </p:blipFill>
        <p:spPr>
          <a:xfrm>
            <a:off x="6759247" y="1690688"/>
            <a:ext cx="4329167" cy="3322746"/>
          </a:xfrm>
          <a:prstGeom prst="rect">
            <a:avLst/>
          </a:prstGeom>
        </p:spPr>
      </p:pic>
    </p:spTree>
    <p:extLst>
      <p:ext uri="{BB962C8B-B14F-4D97-AF65-F5344CB8AC3E}">
        <p14:creationId xmlns:p14="http://schemas.microsoft.com/office/powerpoint/2010/main" val="1517939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clustering-based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407343"/>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621324" y="254395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300472" y="2207057"/>
            <a:ext cx="1645920" cy="238322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3.Cleaned datasets</a:t>
            </a:r>
          </a:p>
          <a:p>
            <a:endParaRPr lang="en-US" sz="1400" b="1" dirty="0">
              <a:solidFill>
                <a:schemeClr val="tx1"/>
              </a:solidFill>
              <a:latin typeface="Abadi" panose="020B0604020104020204" pitchFamily="34" charset="77"/>
            </a:endParaRPr>
          </a:p>
          <a:p>
            <a:r>
              <a:rPr lang="en-US" sz="1400" dirty="0">
                <a:solidFill>
                  <a:schemeClr val="tx1"/>
                </a:solidFill>
                <a:latin typeface="Abadi" panose="020B0604020104020204" pitchFamily="34" charset="77"/>
              </a:rPr>
              <a:t>Final matrix ready for clustering</a:t>
            </a:r>
          </a:p>
          <a:p>
            <a:endParaRPr lang="en-US" b="1" dirty="0">
              <a:solidFill>
                <a:schemeClr val="tx1"/>
              </a:solidFill>
            </a:endParaRPr>
          </a:p>
        </p:txBody>
      </p:sp>
      <p:sp>
        <p:nvSpPr>
          <p:cNvPr id="9" name="Rounded Rectangle 8">
            <a:extLst>
              <a:ext uri="{FF2B5EF4-FFF2-40B4-BE49-F238E27FC236}">
                <a16:creationId xmlns:a16="http://schemas.microsoft.com/office/drawing/2014/main" id="{B10ED2F6-D532-7142-97BA-904FB755E4F3}"/>
              </a:ext>
            </a:extLst>
          </p:cNvPr>
          <p:cNvSpPr/>
          <p:nvPr/>
        </p:nvSpPr>
        <p:spPr>
          <a:xfrm>
            <a:off x="975404" y="2269630"/>
            <a:ext cx="1645920" cy="232065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1.Raw data</a:t>
            </a:r>
          </a:p>
          <a:p>
            <a:endParaRPr lang="en-US" sz="1400" b="1" dirty="0">
              <a:solidFill>
                <a:schemeClr val="tx1"/>
              </a:solidFill>
              <a:latin typeface="Abadi" panose="020B0604020104020204" pitchFamily="34" charset="77"/>
            </a:endParaRPr>
          </a:p>
          <a:p>
            <a:r>
              <a:rPr lang="en-US" sz="1400" dirty="0">
                <a:solidFill>
                  <a:schemeClr val="tx1"/>
                </a:solidFill>
                <a:latin typeface="Abadi" panose="020B0604020104020204" pitchFamily="34" charset="77"/>
              </a:rPr>
              <a:t>User-course interactions, course metadata</a:t>
            </a:r>
          </a:p>
          <a:p>
            <a:endParaRPr lang="en-US" b="1" dirty="0">
              <a:solidFill>
                <a:schemeClr val="tx1"/>
              </a:solidFill>
            </a:endParaRPr>
          </a:p>
        </p:txBody>
      </p:sp>
      <p:sp>
        <p:nvSpPr>
          <p:cNvPr id="10" name="Rectangle 9">
            <a:extLst>
              <a:ext uri="{FF2B5EF4-FFF2-40B4-BE49-F238E27FC236}">
                <a16:creationId xmlns:a16="http://schemas.microsoft.com/office/drawing/2014/main" id="{BC66C45B-081E-7045-A932-30AF89330AF5}"/>
              </a:ext>
            </a:extLst>
          </p:cNvPr>
          <p:cNvSpPr/>
          <p:nvPr/>
        </p:nvSpPr>
        <p:spPr>
          <a:xfrm>
            <a:off x="3040515" y="2269630"/>
            <a:ext cx="1840766" cy="225809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2.Data processing</a:t>
            </a:r>
          </a:p>
          <a:p>
            <a:endParaRPr lang="en-US" sz="1400" b="1" dirty="0">
              <a:solidFill>
                <a:schemeClr val="tx1"/>
              </a:solidFill>
              <a:latin typeface="Abadi" panose="020B0604020104020204" pitchFamily="34" charset="77"/>
            </a:endParaRPr>
          </a:p>
          <a:p>
            <a:r>
              <a:rPr lang="en-US" sz="1400" dirty="0">
                <a:solidFill>
                  <a:schemeClr val="tx1"/>
                </a:solidFill>
                <a:latin typeface="Abadi" panose="020B0604020104020204" pitchFamily="34" charset="77"/>
              </a:rPr>
              <a:t>Normalize matrix, handle sparsity</a:t>
            </a:r>
          </a:p>
          <a:p>
            <a:endParaRPr lang="en-US" dirty="0">
              <a:solidFill>
                <a:schemeClr val="tx1"/>
              </a:solidFill>
            </a:endParaRPr>
          </a:p>
          <a:p>
            <a:endParaRPr lang="en-US" b="1" dirty="0">
              <a:solidFill>
                <a:schemeClr val="tx1"/>
              </a:solidFill>
            </a:endParaRP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81281" y="254395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65583" y="2207067"/>
            <a:ext cx="1840766" cy="23832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4.Feature engineering</a:t>
            </a:r>
          </a:p>
          <a:p>
            <a:endParaRPr lang="en-US" sz="1400" b="1" dirty="0">
              <a:solidFill>
                <a:schemeClr val="tx1"/>
              </a:solidFill>
              <a:latin typeface="Abadi" panose="020B0604020104020204" pitchFamily="34" charset="77"/>
            </a:endParaRPr>
          </a:p>
          <a:p>
            <a:r>
              <a:rPr lang="en-US" sz="1400" dirty="0">
                <a:solidFill>
                  <a:schemeClr val="tx1"/>
                </a:solidFill>
                <a:latin typeface="Abadi" panose="020B0604020104020204" pitchFamily="34" charset="77"/>
              </a:rPr>
              <a:t>Extract user behavior features</a:t>
            </a:r>
          </a:p>
          <a:p>
            <a:endParaRPr lang="en-US" b="1" dirty="0">
              <a:solidFill>
                <a:schemeClr val="tx1"/>
              </a:solidFill>
            </a:endParaRPr>
          </a:p>
          <a:p>
            <a:endParaRPr lang="en-US" b="1" dirty="0">
              <a:solidFill>
                <a:schemeClr val="tx1"/>
              </a:solidFill>
            </a:endParaRP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46392" y="2542338"/>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625540" y="2207057"/>
            <a:ext cx="1645920" cy="238320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5.Features</a:t>
            </a:r>
          </a:p>
          <a:p>
            <a:endParaRPr lang="en-US" sz="1400" b="1" dirty="0">
              <a:solidFill>
                <a:schemeClr val="tx1"/>
              </a:solidFill>
              <a:latin typeface="Abadi" panose="020B0604020104020204" pitchFamily="34" charset="77"/>
            </a:endParaRPr>
          </a:p>
          <a:p>
            <a:r>
              <a:rPr lang="en-US" sz="1400" dirty="0">
                <a:solidFill>
                  <a:schemeClr val="tx1"/>
                </a:solidFill>
                <a:latin typeface="Abadi" panose="020B0604020104020204" pitchFamily="34" charset="77"/>
              </a:rPr>
              <a:t>Input to clustering algorithm (e.g., KMeans)</a:t>
            </a:r>
          </a:p>
          <a:p>
            <a:endParaRPr lang="en-US" sz="1400" dirty="0">
              <a:solidFill>
                <a:schemeClr val="tx1"/>
              </a:solidFill>
              <a:latin typeface="Abadi" panose="020B0604020104020204" pitchFamily="34" charset="77"/>
            </a:endParaRP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206349" y="2542338"/>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581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948CB"/>
                </a:solidFill>
                <a:latin typeface="Abadi" panose="020B0604020104020204" pitchFamily="34" charset="77"/>
              </a:rPr>
              <a:t>Hyperparameter Tuning Results (Similarity Threshold Impact)</a:t>
            </a:r>
            <a:br>
              <a:rPr lang="en-US" dirty="0"/>
            </a:br>
            <a:endParaRPr lang="en-US" sz="4000" dirty="0">
              <a:solidFill>
                <a:srgbClr val="0B49CB"/>
              </a:solidFill>
              <a:latin typeface="Abadi"/>
            </a:endParaRP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5832088" y="2481129"/>
            <a:ext cx="5521712"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3" y="2481129"/>
            <a:ext cx="4742137"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badi"/>
              </a:rPr>
              <a:t>On average, how many new/unseen courses have been recommended per user (in the test user dataset):</a:t>
            </a:r>
          </a:p>
          <a:p>
            <a:pPr marL="0" indent="0">
              <a:buNone/>
            </a:pPr>
            <a:endParaRPr lang="en-US" sz="2000" dirty="0">
              <a:latin typeface="Abadi"/>
              <a:cs typeface="Calibri"/>
            </a:endParaRPr>
          </a:p>
          <a:p>
            <a:pPr marL="0" indent="0">
              <a:buNone/>
            </a:pPr>
            <a:r>
              <a:rPr lang="en-US" sz="2000" dirty="0">
                <a:latin typeface="Abadi"/>
                <a:cs typeface="Calibri"/>
              </a:rPr>
              <a:t>5.0</a:t>
            </a:r>
            <a:endParaRPr lang="en-US" sz="2400" dirty="0">
              <a:cs typeface="Calibri"/>
            </a:endParaRP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690688"/>
            <a:ext cx="10419966" cy="619375"/>
          </a:xfrm>
          <a:prstGeom prst="rect">
            <a:avLst/>
          </a:prstGeom>
          <a:ln>
            <a:solidFill>
              <a:srgbClr val="0B49CB"/>
            </a:solidFill>
            <a:prstDash val="dash"/>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Three similarity thresholds (0.2, 0.3, 0.4) were evaluated to understand their impact on recommendation quality.”</a:t>
            </a:r>
          </a:p>
        </p:txBody>
      </p:sp>
      <p:pic>
        <p:nvPicPr>
          <p:cNvPr id="3" name="Picture 2" descr="A graph with blue squares&#10;&#10;AI-generated content may be incorrect.">
            <a:extLst>
              <a:ext uri="{FF2B5EF4-FFF2-40B4-BE49-F238E27FC236}">
                <a16:creationId xmlns:a16="http://schemas.microsoft.com/office/drawing/2014/main" id="{124212D7-33B0-53A1-C9E8-894AB6AFF936}"/>
              </a:ext>
            </a:extLst>
          </p:cNvPr>
          <p:cNvPicPr>
            <a:picLocks noChangeAspect="1"/>
          </p:cNvPicPr>
          <p:nvPr/>
        </p:nvPicPr>
        <p:blipFill>
          <a:blip r:embed="rId3"/>
          <a:stretch>
            <a:fillRect/>
          </a:stretch>
        </p:blipFill>
        <p:spPr>
          <a:xfrm>
            <a:off x="6711653" y="2481128"/>
            <a:ext cx="4642147" cy="4011745"/>
          </a:xfrm>
          <a:prstGeom prst="rect">
            <a:avLst/>
          </a:prstGeom>
        </p:spPr>
      </p:pic>
    </p:spTree>
    <p:extLst>
      <p:ext uri="{BB962C8B-B14F-4D97-AF65-F5344CB8AC3E}">
        <p14:creationId xmlns:p14="http://schemas.microsoft.com/office/powerpoint/2010/main" val="2115997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2071"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572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KNN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2" y="1042975"/>
            <a:ext cx="11098831" cy="4761060"/>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01582" y="2305069"/>
            <a:ext cx="184620"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4736562" y="1027905"/>
            <a:ext cx="1663382" cy="454016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badi" panose="020B0604020104020204" pitchFamily="34" charset="77"/>
              </a:rPr>
              <a:t>3.</a:t>
            </a:r>
            <a:r>
              <a:rPr lang="en-US" sz="1400" b="1" dirty="0">
                <a:solidFill>
                  <a:schemeClr val="tx1"/>
                </a:solidFill>
                <a:latin typeface="Abadi" panose="020B0604020104020204" pitchFamily="34" charset="77"/>
              </a:rPr>
              <a:t>Feature Engineering</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Represent each user as a vector of course enrollments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Compute pairwise user similarity (e.g., cosine similarity)</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sp>
        <p:nvSpPr>
          <p:cNvPr id="9" name="Rounded Rectangle 8">
            <a:extLst>
              <a:ext uri="{FF2B5EF4-FFF2-40B4-BE49-F238E27FC236}">
                <a16:creationId xmlns:a16="http://schemas.microsoft.com/office/drawing/2014/main" id="{B10ED2F6-D532-7142-97BA-904FB755E4F3}"/>
              </a:ext>
            </a:extLst>
          </p:cNvPr>
          <p:cNvSpPr/>
          <p:nvPr/>
        </p:nvSpPr>
        <p:spPr>
          <a:xfrm>
            <a:off x="838200" y="1053965"/>
            <a:ext cx="1663382" cy="455118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AutoNum type="arabicPeriod"/>
            </a:pPr>
            <a:r>
              <a:rPr lang="en-US" sz="1400" b="1" dirty="0">
                <a:solidFill>
                  <a:schemeClr val="tx1"/>
                </a:solidFill>
                <a:latin typeface="Abadi" panose="020B0604020104020204" pitchFamily="34" charset="77"/>
              </a:rPr>
              <a:t>Raw data</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User–course enrollment matrix</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Course metadata (IDs, titles)</a:t>
            </a: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p:txBody>
      </p:sp>
      <p:sp>
        <p:nvSpPr>
          <p:cNvPr id="10" name="Rectangle 9">
            <a:extLst>
              <a:ext uri="{FF2B5EF4-FFF2-40B4-BE49-F238E27FC236}">
                <a16:creationId xmlns:a16="http://schemas.microsoft.com/office/drawing/2014/main" id="{BC66C45B-081E-7045-A932-30AF89330AF5}"/>
              </a:ext>
            </a:extLst>
          </p:cNvPr>
          <p:cNvSpPr/>
          <p:nvPr/>
        </p:nvSpPr>
        <p:spPr>
          <a:xfrm>
            <a:off x="2686202" y="1064955"/>
            <a:ext cx="1840765" cy="45031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2.Data processing</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Convert enrollment history into a user–item matrix</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Handle sparsity (fill missing values with 0)</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Normalize rows if needed (optional)</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b="1" dirty="0">
              <a:solidFill>
                <a:schemeClr val="tx1"/>
              </a:solidFill>
            </a:endParaRP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526967" y="2305069"/>
            <a:ext cx="234573"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6567055" y="1027891"/>
            <a:ext cx="1478809" cy="45401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badi" panose="020B0604020104020204" pitchFamily="34" charset="77"/>
              </a:rPr>
              <a:t>4.</a:t>
            </a:r>
            <a:r>
              <a:rPr lang="en-US" sz="1400" b="1" dirty="0">
                <a:solidFill>
                  <a:schemeClr val="tx1"/>
                </a:solidFill>
                <a:latin typeface="Abadi" panose="020B0604020104020204" pitchFamily="34" charset="77"/>
              </a:rPr>
              <a:t>KNN Model</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Select value of k (e.g., k = 5 or 10)</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Identify the k nearest neighbors for the target user</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Aggregate neighbor preferences</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endParaRPr lang="en-US" dirty="0">
              <a:solidFill>
                <a:schemeClr val="tx1"/>
              </a:solidFill>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399944" y="2305069"/>
            <a:ext cx="16711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8185183" y="1027883"/>
            <a:ext cx="1794662" cy="454018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5</a:t>
            </a:r>
            <a:r>
              <a:rPr lang="en-US" sz="1400" b="1" dirty="0">
                <a:solidFill>
                  <a:schemeClr val="tx1"/>
                </a:solidFill>
              </a:rPr>
              <a:t>.Generate </a:t>
            </a:r>
            <a:r>
              <a:rPr lang="en-US" sz="1400" b="1" dirty="0">
                <a:solidFill>
                  <a:schemeClr val="tx1"/>
                </a:solidFill>
                <a:latin typeface="Abadi" panose="020B0604020104020204" pitchFamily="34" charset="77"/>
              </a:rPr>
              <a:t>recommendations </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Predict unseen courses based on neighbor enrollments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Rank courses by predicted score</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Filter out already‑enrolled courses</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b="1" dirty="0">
              <a:solidFill>
                <a:schemeClr val="tx1"/>
              </a:solidFill>
            </a:endParaRP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8045864" y="2305069"/>
            <a:ext cx="13931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D77D837C-53E7-FC4D-8882-8FBB00276024}"/>
              </a:ext>
            </a:extLst>
          </p:cNvPr>
          <p:cNvSpPr/>
          <p:nvPr/>
        </p:nvSpPr>
        <p:spPr>
          <a:xfrm>
            <a:off x="10210567" y="1064955"/>
            <a:ext cx="1713109" cy="450311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badi" panose="020B0604020104020204" pitchFamily="34" charset="77"/>
              </a:rPr>
              <a:t>6.</a:t>
            </a:r>
            <a:r>
              <a:rPr lang="en-US" sz="1400" b="1" dirty="0">
                <a:solidFill>
                  <a:schemeClr val="tx1"/>
                </a:solidFill>
                <a:latin typeface="Abadi" panose="020B0604020104020204" pitchFamily="34" charset="77"/>
              </a:rPr>
              <a:t>Output</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Top‑N recommended courses displayed in the Streamlit UI</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p:txBody>
      </p:sp>
      <p:cxnSp>
        <p:nvCxnSpPr>
          <p:cNvPr id="28" name="Straight Arrow Connector 27">
            <a:extLst>
              <a:ext uri="{FF2B5EF4-FFF2-40B4-BE49-F238E27FC236}">
                <a16:creationId xmlns:a16="http://schemas.microsoft.com/office/drawing/2014/main" id="{FBD2E15E-0CB0-A0C8-9C93-61E866DB353E}"/>
              </a:ext>
            </a:extLst>
          </p:cNvPr>
          <p:cNvCxnSpPr>
            <a:cxnSpLocks/>
          </p:cNvCxnSpPr>
          <p:nvPr/>
        </p:nvCxnSpPr>
        <p:spPr>
          <a:xfrm>
            <a:off x="9979845" y="2305069"/>
            <a:ext cx="230722"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261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NMF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38199" y="1064955"/>
            <a:ext cx="11116293" cy="4880962"/>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sp>
        <p:nvSpPr>
          <p:cNvPr id="2" name="Content Placeholder 4">
            <a:extLst>
              <a:ext uri="{FF2B5EF4-FFF2-40B4-BE49-F238E27FC236}">
                <a16:creationId xmlns:a16="http://schemas.microsoft.com/office/drawing/2014/main" id="{8EC8C108-C449-7E5E-4E11-F8FB8F833CFB}"/>
              </a:ext>
            </a:extLst>
          </p:cNvPr>
          <p:cNvSpPr txBox="1">
            <a:spLocks/>
          </p:cNvSpPr>
          <p:nvPr/>
        </p:nvSpPr>
        <p:spPr>
          <a:xfrm>
            <a:off x="855662" y="1042975"/>
            <a:ext cx="11098831" cy="4902942"/>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cxnSp>
        <p:nvCxnSpPr>
          <p:cNvPr id="7" name="Straight Arrow Connector 6">
            <a:extLst>
              <a:ext uri="{FF2B5EF4-FFF2-40B4-BE49-F238E27FC236}">
                <a16:creationId xmlns:a16="http://schemas.microsoft.com/office/drawing/2014/main" id="{6F5C5C3B-28C9-CB06-E281-8DF8098DF149}"/>
              </a:ext>
            </a:extLst>
          </p:cNvPr>
          <p:cNvCxnSpPr>
            <a:cxnSpLocks/>
          </p:cNvCxnSpPr>
          <p:nvPr/>
        </p:nvCxnSpPr>
        <p:spPr>
          <a:xfrm>
            <a:off x="3202226" y="2340087"/>
            <a:ext cx="184620"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91F87089-BF8B-5C4D-1655-55D27EBC4AEE}"/>
              </a:ext>
            </a:extLst>
          </p:cNvPr>
          <p:cNvSpPr/>
          <p:nvPr/>
        </p:nvSpPr>
        <p:spPr>
          <a:xfrm>
            <a:off x="5437205" y="1062923"/>
            <a:ext cx="2602389" cy="454016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badi" panose="020B0604020104020204" pitchFamily="34" charset="77"/>
              </a:rPr>
              <a:t>3.</a:t>
            </a:r>
            <a:r>
              <a:rPr lang="en-US" sz="1400" b="1" dirty="0">
                <a:solidFill>
                  <a:schemeClr val="tx1"/>
                </a:solidFill>
                <a:latin typeface="Abadi" panose="020B0604020104020204" pitchFamily="34" charset="77"/>
              </a:rPr>
              <a:t>Matrix factorization (NMF)</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Apply Non‑Negative Matrix Factorization</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Decompose user–item matrix into latent feature matrices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R \approx. P \cdot Q^T </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Where  P  = user features,  Q  = item features</a:t>
            </a:r>
          </a:p>
          <a:p>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sp>
        <p:nvSpPr>
          <p:cNvPr id="11" name="Rounded Rectangle 10">
            <a:extLst>
              <a:ext uri="{FF2B5EF4-FFF2-40B4-BE49-F238E27FC236}">
                <a16:creationId xmlns:a16="http://schemas.microsoft.com/office/drawing/2014/main" id="{59CD801B-7ADE-F64E-8709-237ED779A941}"/>
              </a:ext>
            </a:extLst>
          </p:cNvPr>
          <p:cNvSpPr/>
          <p:nvPr/>
        </p:nvSpPr>
        <p:spPr>
          <a:xfrm>
            <a:off x="1538844" y="1088983"/>
            <a:ext cx="1663382" cy="455118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sz="1400" b="1" dirty="0">
                <a:solidFill>
                  <a:schemeClr val="tx1"/>
                </a:solidFill>
                <a:latin typeface="Abadi" panose="020B0604020104020204" pitchFamily="34" charset="77"/>
              </a:rPr>
              <a:t>Raw data</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User–course rating matrix</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Course metadata (IDs, titles)</a:t>
            </a: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p:txBody>
      </p:sp>
      <p:sp>
        <p:nvSpPr>
          <p:cNvPr id="17" name="Rectangle 16">
            <a:extLst>
              <a:ext uri="{FF2B5EF4-FFF2-40B4-BE49-F238E27FC236}">
                <a16:creationId xmlns:a16="http://schemas.microsoft.com/office/drawing/2014/main" id="{8FD5C0F8-893D-C061-2C49-84C4049567FC}"/>
              </a:ext>
            </a:extLst>
          </p:cNvPr>
          <p:cNvSpPr/>
          <p:nvPr/>
        </p:nvSpPr>
        <p:spPr>
          <a:xfrm>
            <a:off x="3386846" y="1099973"/>
            <a:ext cx="1840765" cy="45031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2.Data processing</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Convert ratings into a sparse matrix</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Normalize ratings (optional)</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Handle missing values</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b="1" dirty="0">
              <a:solidFill>
                <a:schemeClr val="tx1"/>
              </a:solidFill>
            </a:endParaRPr>
          </a:p>
        </p:txBody>
      </p:sp>
      <p:cxnSp>
        <p:nvCxnSpPr>
          <p:cNvPr id="18" name="Straight Arrow Connector 17">
            <a:extLst>
              <a:ext uri="{FF2B5EF4-FFF2-40B4-BE49-F238E27FC236}">
                <a16:creationId xmlns:a16="http://schemas.microsoft.com/office/drawing/2014/main" id="{C2B8BAEB-C0E5-C90F-68AC-F4BCA814F874}"/>
              </a:ext>
            </a:extLst>
          </p:cNvPr>
          <p:cNvCxnSpPr>
            <a:cxnSpLocks/>
          </p:cNvCxnSpPr>
          <p:nvPr/>
        </p:nvCxnSpPr>
        <p:spPr>
          <a:xfrm>
            <a:off x="5227611" y="2340087"/>
            <a:ext cx="234573"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3994AD-9859-343B-DF89-8B036EDEFFA5}"/>
              </a:ext>
            </a:extLst>
          </p:cNvPr>
          <p:cNvCxnSpPr>
            <a:cxnSpLocks/>
          </p:cNvCxnSpPr>
          <p:nvPr/>
        </p:nvCxnSpPr>
        <p:spPr>
          <a:xfrm>
            <a:off x="7100588" y="2340087"/>
            <a:ext cx="16711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7E14AEAC-0091-8ACB-964B-F2AB290CE09E}"/>
              </a:ext>
            </a:extLst>
          </p:cNvPr>
          <p:cNvSpPr/>
          <p:nvPr/>
        </p:nvSpPr>
        <p:spPr>
          <a:xfrm>
            <a:off x="8249188" y="1062901"/>
            <a:ext cx="1559966" cy="454018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4.Prediction generation</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Reconstruct predicted ratings from  P \cdot Q^T</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Identify top‑rated unseen courses for each user</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 Filter out already‑rated/enrolled courses</a:t>
            </a:r>
          </a:p>
        </p:txBody>
      </p:sp>
      <p:cxnSp>
        <p:nvCxnSpPr>
          <p:cNvPr id="22" name="Straight Arrow Connector 21">
            <a:extLst>
              <a:ext uri="{FF2B5EF4-FFF2-40B4-BE49-F238E27FC236}">
                <a16:creationId xmlns:a16="http://schemas.microsoft.com/office/drawing/2014/main" id="{C481C24F-F2EF-8CD4-9DA4-B2A181798998}"/>
              </a:ext>
            </a:extLst>
          </p:cNvPr>
          <p:cNvCxnSpPr>
            <a:cxnSpLocks/>
          </p:cNvCxnSpPr>
          <p:nvPr/>
        </p:nvCxnSpPr>
        <p:spPr>
          <a:xfrm>
            <a:off x="9809155" y="2340087"/>
            <a:ext cx="24924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7B48ECBF-70DD-5327-6440-DBA5ADCFA31D}"/>
              </a:ext>
            </a:extLst>
          </p:cNvPr>
          <p:cNvSpPr/>
          <p:nvPr/>
        </p:nvSpPr>
        <p:spPr>
          <a:xfrm>
            <a:off x="10075863" y="1099973"/>
            <a:ext cx="1606270" cy="450311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5.Output</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Top‑N recommended courses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Displayed in the Streamlit UI</a:t>
            </a:r>
          </a:p>
          <a:p>
            <a:endParaRPr lang="en-US" sz="1400" dirty="0">
              <a:solidFill>
                <a:schemeClr val="tx1"/>
              </a:solidFill>
              <a:latin typeface="Abadi" panose="020B0604020104020204" pitchFamily="34" charset="77"/>
            </a:endParaRPr>
          </a:p>
          <a:p>
            <a:endParaRPr lang="en-US" sz="1400" dirty="0">
              <a:solidFill>
                <a:schemeClr val="tx1"/>
              </a:solidFill>
              <a:latin typeface="Abadi" panose="020B0604020104020204" pitchFamily="34" charset="77"/>
            </a:endParaRPr>
          </a:p>
          <a:p>
            <a:endParaRPr lang="en-US" sz="1400" dirty="0">
              <a:solidFill>
                <a:schemeClr val="tx1"/>
              </a:solidFill>
              <a:latin typeface="Abadi" panose="020B0604020104020204" pitchFamily="34" charset="77"/>
            </a:endParaRPr>
          </a:p>
          <a:p>
            <a:endParaRPr lang="en-US" sz="1400" dirty="0">
              <a:solidFill>
                <a:schemeClr val="tx1"/>
              </a:solidFill>
              <a:latin typeface="Abadi" panose="020B0604020104020204" pitchFamily="34" charset="77"/>
            </a:endParaRPr>
          </a:p>
          <a:p>
            <a:endParaRPr lang="en-US" sz="1400" dirty="0">
              <a:solidFill>
                <a:schemeClr val="tx1"/>
              </a:solidFill>
              <a:latin typeface="Abadi" panose="020B0604020104020204" pitchFamily="34" charset="77"/>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p:txBody>
      </p:sp>
      <p:cxnSp>
        <p:nvCxnSpPr>
          <p:cNvPr id="28" name="Straight Arrow Connector 27">
            <a:extLst>
              <a:ext uri="{FF2B5EF4-FFF2-40B4-BE49-F238E27FC236}">
                <a16:creationId xmlns:a16="http://schemas.microsoft.com/office/drawing/2014/main" id="{5D710DDA-4778-DAB7-80A8-4E72B35716A5}"/>
              </a:ext>
            </a:extLst>
          </p:cNvPr>
          <p:cNvCxnSpPr>
            <a:cxnSpLocks/>
          </p:cNvCxnSpPr>
          <p:nvPr/>
        </p:nvCxnSpPr>
        <p:spPr>
          <a:xfrm>
            <a:off x="8039594" y="2340087"/>
            <a:ext cx="209594"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939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Neural Network Embedding based recommender system</a:t>
            </a:r>
          </a:p>
        </p:txBody>
      </p:sp>
      <p:sp>
        <p:nvSpPr>
          <p:cNvPr id="26" name="Content Placeholder 4">
            <a:extLst>
              <a:ext uri="{FF2B5EF4-FFF2-40B4-BE49-F238E27FC236}">
                <a16:creationId xmlns:a16="http://schemas.microsoft.com/office/drawing/2014/main" id="{D51130E4-8088-F97A-B158-7C902135E996}"/>
              </a:ext>
            </a:extLst>
          </p:cNvPr>
          <p:cNvSpPr txBox="1">
            <a:spLocks/>
          </p:cNvSpPr>
          <p:nvPr/>
        </p:nvSpPr>
        <p:spPr>
          <a:xfrm>
            <a:off x="487527" y="1731815"/>
            <a:ext cx="11098831" cy="4761060"/>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cxnSp>
        <p:nvCxnSpPr>
          <p:cNvPr id="27" name="Straight Arrow Connector 26">
            <a:extLst>
              <a:ext uri="{FF2B5EF4-FFF2-40B4-BE49-F238E27FC236}">
                <a16:creationId xmlns:a16="http://schemas.microsoft.com/office/drawing/2014/main" id="{8C4450AB-AEC1-D485-8F59-E249AF138A23}"/>
              </a:ext>
            </a:extLst>
          </p:cNvPr>
          <p:cNvCxnSpPr>
            <a:cxnSpLocks/>
          </p:cNvCxnSpPr>
          <p:nvPr/>
        </p:nvCxnSpPr>
        <p:spPr>
          <a:xfrm>
            <a:off x="2133447" y="2993909"/>
            <a:ext cx="184620"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3BA43E97-4D78-E729-F0FA-ED3E06F6FB8C}"/>
              </a:ext>
            </a:extLst>
          </p:cNvPr>
          <p:cNvSpPr/>
          <p:nvPr/>
        </p:nvSpPr>
        <p:spPr>
          <a:xfrm>
            <a:off x="4368427" y="1716745"/>
            <a:ext cx="1663382" cy="454016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badi" panose="020B0604020104020204" pitchFamily="34" charset="77"/>
              </a:rPr>
              <a:t>3.</a:t>
            </a:r>
            <a:r>
              <a:rPr lang="en-US" sz="1400" b="1" dirty="0">
                <a:solidFill>
                  <a:schemeClr val="tx1"/>
                </a:solidFill>
                <a:latin typeface="Abadi" panose="020B0604020104020204" pitchFamily="34" charset="77"/>
              </a:rPr>
              <a:t>Feature Engineering</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Create embedding layers for users and courses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Combine embeddings with additional features (e.g., genre vectors)</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sp>
        <p:nvSpPr>
          <p:cNvPr id="29" name="Rounded Rectangle 28">
            <a:extLst>
              <a:ext uri="{FF2B5EF4-FFF2-40B4-BE49-F238E27FC236}">
                <a16:creationId xmlns:a16="http://schemas.microsoft.com/office/drawing/2014/main" id="{4A516534-AF16-9A13-A136-8F938E5DAAD3}"/>
              </a:ext>
            </a:extLst>
          </p:cNvPr>
          <p:cNvSpPr/>
          <p:nvPr/>
        </p:nvSpPr>
        <p:spPr>
          <a:xfrm>
            <a:off x="470065" y="1742805"/>
            <a:ext cx="1663382" cy="455118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sz="1400" b="1" dirty="0">
                <a:solidFill>
                  <a:schemeClr val="tx1"/>
                </a:solidFill>
                <a:latin typeface="Abadi" panose="020B0604020104020204" pitchFamily="34" charset="77"/>
              </a:rPr>
              <a:t>Raw data</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User–course interaction history</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Course metadata (IDs, titles, genres)</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p:txBody>
      </p:sp>
      <p:sp>
        <p:nvSpPr>
          <p:cNvPr id="30" name="Rectangle 29">
            <a:extLst>
              <a:ext uri="{FF2B5EF4-FFF2-40B4-BE49-F238E27FC236}">
                <a16:creationId xmlns:a16="http://schemas.microsoft.com/office/drawing/2014/main" id="{A8095B1F-B8F1-0105-504F-D8F708626C06}"/>
              </a:ext>
            </a:extLst>
          </p:cNvPr>
          <p:cNvSpPr/>
          <p:nvPr/>
        </p:nvSpPr>
        <p:spPr>
          <a:xfrm>
            <a:off x="2318067" y="1753795"/>
            <a:ext cx="1840765" cy="45031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Abadi" panose="020B0604020104020204" pitchFamily="34" charset="77"/>
              </a:rPr>
              <a:t>2.Data processing</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Encode user and course IDs as categorical variables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Normalize and clean interaction data</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Split into training and test sets</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b="1" dirty="0">
              <a:solidFill>
                <a:schemeClr val="tx1"/>
              </a:solidFill>
            </a:endParaRPr>
          </a:p>
        </p:txBody>
      </p:sp>
      <p:cxnSp>
        <p:nvCxnSpPr>
          <p:cNvPr id="31" name="Straight Arrow Connector 30">
            <a:extLst>
              <a:ext uri="{FF2B5EF4-FFF2-40B4-BE49-F238E27FC236}">
                <a16:creationId xmlns:a16="http://schemas.microsoft.com/office/drawing/2014/main" id="{F002F82A-B473-7D6A-F095-5F1EB8681C81}"/>
              </a:ext>
            </a:extLst>
          </p:cNvPr>
          <p:cNvCxnSpPr>
            <a:cxnSpLocks/>
          </p:cNvCxnSpPr>
          <p:nvPr/>
        </p:nvCxnSpPr>
        <p:spPr>
          <a:xfrm>
            <a:off x="4158832" y="2993909"/>
            <a:ext cx="234573"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370086C8-28FA-7576-A1A4-8671CBB4CA95}"/>
              </a:ext>
            </a:extLst>
          </p:cNvPr>
          <p:cNvSpPr/>
          <p:nvPr/>
        </p:nvSpPr>
        <p:spPr>
          <a:xfrm>
            <a:off x="6198920" y="1716731"/>
            <a:ext cx="1478809" cy="45401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badi" panose="020B0604020104020204" pitchFamily="34" charset="77"/>
              </a:rPr>
              <a:t>4.</a:t>
            </a:r>
            <a:r>
              <a:rPr lang="en-US" sz="1400" b="1" dirty="0">
                <a:solidFill>
                  <a:schemeClr val="tx1"/>
                </a:solidFill>
                <a:latin typeface="Abadi" panose="020B0604020104020204" pitchFamily="34" charset="77"/>
              </a:rPr>
              <a:t>Neural network model</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Input: user and course embeddings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Hidden layers: learn interaction patterns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Output: predicted rating or match score</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b="1" dirty="0">
              <a:solidFill>
                <a:schemeClr val="tx1"/>
              </a:solidFill>
              <a:latin typeface="Abadi" panose="020B0604020104020204" pitchFamily="34" charset="77"/>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cxnSp>
        <p:nvCxnSpPr>
          <p:cNvPr id="33" name="Straight Arrow Connector 32">
            <a:extLst>
              <a:ext uri="{FF2B5EF4-FFF2-40B4-BE49-F238E27FC236}">
                <a16:creationId xmlns:a16="http://schemas.microsoft.com/office/drawing/2014/main" id="{6842A95F-EA7F-6AC1-B988-7DCEEA83A245}"/>
              </a:ext>
            </a:extLst>
          </p:cNvPr>
          <p:cNvCxnSpPr>
            <a:cxnSpLocks/>
          </p:cNvCxnSpPr>
          <p:nvPr/>
        </p:nvCxnSpPr>
        <p:spPr>
          <a:xfrm>
            <a:off x="6031809" y="2993909"/>
            <a:ext cx="16711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367B200B-250F-4EE4-4356-1E1D04CC5D19}"/>
              </a:ext>
            </a:extLst>
          </p:cNvPr>
          <p:cNvSpPr/>
          <p:nvPr/>
        </p:nvSpPr>
        <p:spPr>
          <a:xfrm>
            <a:off x="7817048" y="1716723"/>
            <a:ext cx="1794662" cy="454018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5</a:t>
            </a:r>
            <a:r>
              <a:rPr lang="en-US" sz="1400" b="1" dirty="0">
                <a:solidFill>
                  <a:schemeClr val="tx1"/>
                </a:solidFill>
              </a:rPr>
              <a:t>.Generate </a:t>
            </a:r>
            <a:r>
              <a:rPr lang="en-US" sz="1400" b="1" dirty="0">
                <a:solidFill>
                  <a:schemeClr val="tx1"/>
                </a:solidFill>
                <a:latin typeface="Abadi" panose="020B0604020104020204" pitchFamily="34" charset="77"/>
              </a:rPr>
              <a:t>recommendations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Predict scores for unseen courses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Rank by predicted score</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Filter out already‑interacted courses</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r>
              <a:rPr lang="en-US" sz="1400" b="1" dirty="0">
                <a:solidFill>
                  <a:schemeClr val="tx1"/>
                </a:solidFill>
                <a:latin typeface="Abadi" panose="020B0604020104020204" pitchFamily="34" charset="77"/>
              </a:rPr>
              <a:t> </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b="1" dirty="0">
              <a:solidFill>
                <a:schemeClr val="tx1"/>
              </a:solidFill>
            </a:endParaRPr>
          </a:p>
        </p:txBody>
      </p:sp>
      <p:cxnSp>
        <p:nvCxnSpPr>
          <p:cNvPr id="35" name="Straight Arrow Connector 34">
            <a:extLst>
              <a:ext uri="{FF2B5EF4-FFF2-40B4-BE49-F238E27FC236}">
                <a16:creationId xmlns:a16="http://schemas.microsoft.com/office/drawing/2014/main" id="{C4041FDE-4729-94F1-CE9F-DCE629A17E23}"/>
              </a:ext>
            </a:extLst>
          </p:cNvPr>
          <p:cNvCxnSpPr>
            <a:cxnSpLocks/>
          </p:cNvCxnSpPr>
          <p:nvPr/>
        </p:nvCxnSpPr>
        <p:spPr>
          <a:xfrm>
            <a:off x="7677729" y="2993909"/>
            <a:ext cx="13931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B141E5DD-9321-DCC4-A726-CD4FC55E0725}"/>
              </a:ext>
            </a:extLst>
          </p:cNvPr>
          <p:cNvSpPr/>
          <p:nvPr/>
        </p:nvSpPr>
        <p:spPr>
          <a:xfrm>
            <a:off x="9842432" y="1753795"/>
            <a:ext cx="1713109" cy="450311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badi" panose="020B0604020104020204" pitchFamily="34" charset="77"/>
              </a:rPr>
              <a:t>6.</a:t>
            </a:r>
            <a:r>
              <a:rPr lang="en-US" sz="1400" b="1" dirty="0">
                <a:solidFill>
                  <a:schemeClr val="tx1"/>
                </a:solidFill>
                <a:latin typeface="Abadi" panose="020B0604020104020204" pitchFamily="34" charset="77"/>
              </a:rPr>
              <a:t>Output</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Top‑N recommended courses</a:t>
            </a:r>
          </a:p>
          <a:p>
            <a:pPr marL="285750" indent="-285750">
              <a:buFont typeface="Arial" panose="020B0604020202020204" pitchFamily="34" charset="0"/>
              <a:buChar char="•"/>
            </a:pPr>
            <a:r>
              <a:rPr lang="en-US" sz="1400" dirty="0">
                <a:solidFill>
                  <a:schemeClr val="tx1"/>
                </a:solidFill>
                <a:latin typeface="Abadi" panose="020B0604020104020204" pitchFamily="34" charset="77"/>
              </a:rPr>
              <a:t>Displayed in the Streamlit UI</a:t>
            </a: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endParaRPr lang="en-US" sz="1400" b="1"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sz="1400" dirty="0">
              <a:solidFill>
                <a:schemeClr val="tx1"/>
              </a:solidFill>
              <a:latin typeface="Abadi" panose="020B0604020104020204" pitchFamily="34" charset="77"/>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endParaRPr lang="en-US" dirty="0">
              <a:solidFill>
                <a:schemeClr val="tx1"/>
              </a:solidFill>
            </a:endParaRPr>
          </a:p>
        </p:txBody>
      </p:sp>
      <p:cxnSp>
        <p:nvCxnSpPr>
          <p:cNvPr id="37" name="Straight Arrow Connector 36">
            <a:extLst>
              <a:ext uri="{FF2B5EF4-FFF2-40B4-BE49-F238E27FC236}">
                <a16:creationId xmlns:a16="http://schemas.microsoft.com/office/drawing/2014/main" id="{E0819047-7ACD-8FEE-176B-9201D2D44077}"/>
              </a:ext>
            </a:extLst>
          </p:cNvPr>
          <p:cNvCxnSpPr>
            <a:cxnSpLocks/>
          </p:cNvCxnSpPr>
          <p:nvPr/>
        </p:nvCxnSpPr>
        <p:spPr>
          <a:xfrm>
            <a:off x="9611710" y="2993909"/>
            <a:ext cx="230722"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004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Compare the performance of collaborative-filtering models</a:t>
            </a:r>
          </a:p>
        </p:txBody>
      </p:sp>
      <p:pic>
        <p:nvPicPr>
          <p:cNvPr id="8" name="Picture 7" descr="A graph of a bar chart&#10;&#10;AI-generated content may be incorrect.">
            <a:extLst>
              <a:ext uri="{FF2B5EF4-FFF2-40B4-BE49-F238E27FC236}">
                <a16:creationId xmlns:a16="http://schemas.microsoft.com/office/drawing/2014/main" id="{1833C8FB-6A92-A676-A7EC-3A656C3C1612}"/>
              </a:ext>
            </a:extLst>
          </p:cNvPr>
          <p:cNvPicPr>
            <a:picLocks noChangeAspect="1"/>
          </p:cNvPicPr>
          <p:nvPr/>
        </p:nvPicPr>
        <p:blipFill>
          <a:blip r:embed="rId3"/>
          <a:stretch>
            <a:fillRect/>
          </a:stretch>
        </p:blipFill>
        <p:spPr>
          <a:xfrm>
            <a:off x="838200" y="1795346"/>
            <a:ext cx="10515600" cy="4400046"/>
          </a:xfrm>
          <a:prstGeom prst="rect">
            <a:avLst/>
          </a:prstGeom>
        </p:spPr>
      </p:pic>
    </p:spTree>
    <p:extLst>
      <p:ext uri="{BB962C8B-B14F-4D97-AF65-F5344CB8AC3E}">
        <p14:creationId xmlns:p14="http://schemas.microsoft.com/office/powerpoint/2010/main" val="4130130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F9A5-BC15-9C44-9AEA-93F5BAAA07AC}"/>
              </a:ext>
            </a:extLst>
          </p:cNvPr>
          <p:cNvSpPr>
            <a:spLocks noGrp="1"/>
          </p:cNvSpPr>
          <p:nvPr>
            <p:ph type="title"/>
          </p:nvPr>
        </p:nvSpPr>
        <p:spPr/>
        <p:txBody>
          <a:bodyPr/>
          <a:lstStyle/>
          <a:p>
            <a:r>
              <a:rPr lang="en-US" sz="4000" dirty="0">
                <a:solidFill>
                  <a:srgbClr val="0B49CB"/>
                </a:solidFill>
                <a:latin typeface="Abadi"/>
              </a:rPr>
              <a:t>Build a course recommender system app with Streamlit</a:t>
            </a:r>
          </a:p>
        </p:txBody>
      </p:sp>
      <p:sp>
        <p:nvSpPr>
          <p:cNvPr id="4" name="Content Placeholder 4">
            <a:extLst>
              <a:ext uri="{FF2B5EF4-FFF2-40B4-BE49-F238E27FC236}">
                <a16:creationId xmlns:a16="http://schemas.microsoft.com/office/drawing/2014/main" id="{F3C5989F-33DB-E341-8D2D-58919572AF85}"/>
              </a:ext>
            </a:extLst>
          </p:cNvPr>
          <p:cNvSpPr txBox="1">
            <a:spLocks/>
          </p:cNvSpPr>
          <p:nvPr/>
        </p:nvSpPr>
        <p:spPr>
          <a:xfrm>
            <a:off x="855663" y="1792289"/>
            <a:ext cx="302065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5" name="Content Placeholder 4">
            <a:extLst>
              <a:ext uri="{FF2B5EF4-FFF2-40B4-BE49-F238E27FC236}">
                <a16:creationId xmlns:a16="http://schemas.microsoft.com/office/drawing/2014/main" id="{1A009626-4E30-F64B-B251-6A848BDAB6FC}"/>
              </a:ext>
            </a:extLst>
          </p:cNvPr>
          <p:cNvSpPr txBox="1">
            <a:spLocks/>
          </p:cNvSpPr>
          <p:nvPr/>
        </p:nvSpPr>
        <p:spPr>
          <a:xfrm>
            <a:off x="4073263" y="1811534"/>
            <a:ext cx="3176504"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8" name="TextBox 7">
            <a:extLst>
              <a:ext uri="{FF2B5EF4-FFF2-40B4-BE49-F238E27FC236}">
                <a16:creationId xmlns:a16="http://schemas.microsoft.com/office/drawing/2014/main" id="{E5AAF09B-75CD-954A-B082-C62620ABA3F3}"/>
              </a:ext>
            </a:extLst>
          </p:cNvPr>
          <p:cNvSpPr txBox="1"/>
          <p:nvPr/>
        </p:nvSpPr>
        <p:spPr>
          <a:xfrm>
            <a:off x="855662" y="1792289"/>
            <a:ext cx="3121691" cy="400110"/>
          </a:xfrm>
          <a:prstGeom prst="rect">
            <a:avLst/>
          </a:prstGeom>
          <a:noFill/>
        </p:spPr>
        <p:txBody>
          <a:bodyPr wrap="square">
            <a:spAutoFit/>
          </a:bodyPr>
          <a:lstStyle/>
          <a:p>
            <a:pPr marL="0" indent="0" algn="ctr">
              <a:buNone/>
            </a:pPr>
            <a:r>
              <a:rPr lang="en-US" sz="2000" dirty="0">
                <a:solidFill>
                  <a:srgbClr val="1C7DDB"/>
                </a:solidFill>
                <a:latin typeface="Abadi"/>
              </a:rPr>
              <a:t>Streamlit app screenshot 1 </a:t>
            </a:r>
          </a:p>
        </p:txBody>
      </p:sp>
      <p:sp>
        <p:nvSpPr>
          <p:cNvPr id="9" name="TextBox 8">
            <a:extLst>
              <a:ext uri="{FF2B5EF4-FFF2-40B4-BE49-F238E27FC236}">
                <a16:creationId xmlns:a16="http://schemas.microsoft.com/office/drawing/2014/main" id="{95157DD3-6050-F54C-AB8E-316EF062F98D}"/>
              </a:ext>
            </a:extLst>
          </p:cNvPr>
          <p:cNvSpPr txBox="1"/>
          <p:nvPr/>
        </p:nvSpPr>
        <p:spPr>
          <a:xfrm>
            <a:off x="4073262" y="1852712"/>
            <a:ext cx="3103787" cy="400110"/>
          </a:xfrm>
          <a:prstGeom prst="rect">
            <a:avLst/>
          </a:prstGeom>
          <a:noFill/>
        </p:spPr>
        <p:txBody>
          <a:bodyPr wrap="square">
            <a:spAutoFit/>
          </a:bodyPr>
          <a:lstStyle/>
          <a:p>
            <a:pPr marL="0" indent="0" algn="ctr">
              <a:buNone/>
            </a:pPr>
            <a:r>
              <a:rPr lang="en-US" sz="2000" dirty="0">
                <a:solidFill>
                  <a:srgbClr val="1C7DDB"/>
                </a:solidFill>
                <a:latin typeface="Abadi"/>
              </a:rPr>
              <a:t>Streamlit app screenshot 2 </a:t>
            </a:r>
          </a:p>
        </p:txBody>
      </p:sp>
      <p:sp>
        <p:nvSpPr>
          <p:cNvPr id="10" name="Content Placeholder 4">
            <a:extLst>
              <a:ext uri="{FF2B5EF4-FFF2-40B4-BE49-F238E27FC236}">
                <a16:creationId xmlns:a16="http://schemas.microsoft.com/office/drawing/2014/main" id="{A5E5D172-C398-C444-9C12-5E48A3C2030B}"/>
              </a:ext>
            </a:extLst>
          </p:cNvPr>
          <p:cNvSpPr txBox="1">
            <a:spLocks/>
          </p:cNvSpPr>
          <p:nvPr/>
        </p:nvSpPr>
        <p:spPr>
          <a:xfrm>
            <a:off x="855663" y="6056427"/>
            <a:ext cx="10498137" cy="436448"/>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hlinkClick r:id="rId3"/>
              </a:rPr>
              <a:t>Hyperlink:Published</a:t>
            </a:r>
            <a:r>
              <a:rPr lang="en-US" sz="2000" dirty="0">
                <a:solidFill>
                  <a:srgbClr val="1C7DDB"/>
                </a:solidFill>
                <a:latin typeface="Abadi"/>
              </a:rPr>
              <a:t>.</a:t>
            </a:r>
          </a:p>
        </p:txBody>
      </p:sp>
      <p:pic>
        <p:nvPicPr>
          <p:cNvPr id="6" name="Picture 5" descr="A screenshot of a computer&#10;&#10;AI-generated content may be incorrect.">
            <a:extLst>
              <a:ext uri="{FF2B5EF4-FFF2-40B4-BE49-F238E27FC236}">
                <a16:creationId xmlns:a16="http://schemas.microsoft.com/office/drawing/2014/main" id="{B9FD28C1-988F-6EBD-8515-84FDAE19EDB3}"/>
              </a:ext>
            </a:extLst>
          </p:cNvPr>
          <p:cNvPicPr>
            <a:picLocks noChangeAspect="1"/>
          </p:cNvPicPr>
          <p:nvPr/>
        </p:nvPicPr>
        <p:blipFill>
          <a:blip r:embed="rId4"/>
          <a:stretch>
            <a:fillRect/>
          </a:stretch>
        </p:blipFill>
        <p:spPr>
          <a:xfrm>
            <a:off x="804683" y="2192399"/>
            <a:ext cx="3172670" cy="3149035"/>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235CE79F-C5F7-8ACD-5428-D708BB555027}"/>
              </a:ext>
            </a:extLst>
          </p:cNvPr>
          <p:cNvPicPr>
            <a:picLocks noChangeAspect="1"/>
          </p:cNvPicPr>
          <p:nvPr/>
        </p:nvPicPr>
        <p:blipFill>
          <a:blip r:embed="rId5"/>
          <a:stretch>
            <a:fillRect/>
          </a:stretch>
        </p:blipFill>
        <p:spPr>
          <a:xfrm>
            <a:off x="4073262" y="2313245"/>
            <a:ext cx="3103787" cy="2848973"/>
          </a:xfrm>
          <a:prstGeom prst="rect">
            <a:avLst/>
          </a:prstGeom>
        </p:spPr>
      </p:pic>
      <p:sp>
        <p:nvSpPr>
          <p:cNvPr id="12" name="Content Placeholder 4">
            <a:extLst>
              <a:ext uri="{FF2B5EF4-FFF2-40B4-BE49-F238E27FC236}">
                <a16:creationId xmlns:a16="http://schemas.microsoft.com/office/drawing/2014/main" id="{4CDDF8C9-B604-2425-1EED-0234460FD872}"/>
              </a:ext>
            </a:extLst>
          </p:cNvPr>
          <p:cNvSpPr txBox="1">
            <a:spLocks/>
          </p:cNvSpPr>
          <p:nvPr/>
        </p:nvSpPr>
        <p:spPr>
          <a:xfrm>
            <a:off x="7446716" y="1792288"/>
            <a:ext cx="3889622" cy="4011745"/>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14" name="TextBox 13">
            <a:extLst>
              <a:ext uri="{FF2B5EF4-FFF2-40B4-BE49-F238E27FC236}">
                <a16:creationId xmlns:a16="http://schemas.microsoft.com/office/drawing/2014/main" id="{6DD78DF7-C94A-7561-FDF0-C34E3860F018}"/>
              </a:ext>
            </a:extLst>
          </p:cNvPr>
          <p:cNvSpPr txBox="1"/>
          <p:nvPr/>
        </p:nvSpPr>
        <p:spPr>
          <a:xfrm>
            <a:off x="7738945" y="1819502"/>
            <a:ext cx="3501484" cy="400110"/>
          </a:xfrm>
          <a:prstGeom prst="rect">
            <a:avLst/>
          </a:prstGeom>
          <a:noFill/>
        </p:spPr>
        <p:txBody>
          <a:bodyPr wrap="square">
            <a:spAutoFit/>
          </a:bodyPr>
          <a:lstStyle/>
          <a:p>
            <a:pPr marL="0" indent="0" algn="ctr">
              <a:buNone/>
            </a:pPr>
            <a:r>
              <a:rPr lang="en-US" sz="2000" dirty="0">
                <a:solidFill>
                  <a:srgbClr val="1C7DDB"/>
                </a:solidFill>
                <a:latin typeface="Abadi"/>
              </a:rPr>
              <a:t>Streamlit app screenshot 3 </a:t>
            </a:r>
          </a:p>
        </p:txBody>
      </p:sp>
      <p:pic>
        <p:nvPicPr>
          <p:cNvPr id="16" name="Picture 15" descr="A screenshot of a computer&#10;&#10;AI-generated content may be incorrect.">
            <a:extLst>
              <a:ext uri="{FF2B5EF4-FFF2-40B4-BE49-F238E27FC236}">
                <a16:creationId xmlns:a16="http://schemas.microsoft.com/office/drawing/2014/main" id="{CA0CFFC5-7606-F1C2-4FD6-090722A489E7}"/>
              </a:ext>
            </a:extLst>
          </p:cNvPr>
          <p:cNvPicPr>
            <a:picLocks noChangeAspect="1"/>
          </p:cNvPicPr>
          <p:nvPr/>
        </p:nvPicPr>
        <p:blipFill>
          <a:blip r:embed="rId6"/>
          <a:stretch>
            <a:fillRect/>
          </a:stretch>
        </p:blipFill>
        <p:spPr>
          <a:xfrm>
            <a:off x="7446716" y="2348426"/>
            <a:ext cx="3793714" cy="2813792"/>
          </a:xfrm>
          <a:prstGeom prst="rect">
            <a:avLst/>
          </a:prstGeom>
        </p:spPr>
      </p:pic>
    </p:spTree>
    <p:extLst>
      <p:ext uri="{BB962C8B-B14F-4D97-AF65-F5344CB8AC3E}">
        <p14:creationId xmlns:p14="http://schemas.microsoft.com/office/powerpoint/2010/main" val="25707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316182"/>
            <a:ext cx="10355189" cy="4910210"/>
          </a:xfrm>
          <a:prstGeom prst="rect">
            <a:avLst/>
          </a:prstGeom>
        </p:spPr>
        <p:txBody>
          <a:bodyPr>
            <a:normAutofit lnSpcReduction="10000"/>
          </a:bodyPr>
          <a:lstStyle/>
          <a:p>
            <a:pPr lvl="0"/>
            <a:r>
              <a:rPr lang="en-US" dirty="0">
                <a:latin typeface="Abadi" panose="020B0604020104020204" pitchFamily="34" charset="77"/>
              </a:rPr>
              <a:t>Built a complete end‑to‑end recommender system using multiple ML approaches</a:t>
            </a:r>
          </a:p>
          <a:p>
            <a:pPr lvl="0"/>
            <a:r>
              <a:rPr lang="en-US" dirty="0">
                <a:latin typeface="Abadi" panose="020B0604020104020204" pitchFamily="34" charset="77"/>
              </a:rPr>
              <a:t>Built a complete end‑to‑end recommender system using multiple ML approaches</a:t>
            </a:r>
          </a:p>
          <a:p>
            <a:pPr lvl="0"/>
            <a:r>
              <a:rPr lang="en-US" dirty="0">
                <a:latin typeface="Abadi" panose="020B0604020104020204" pitchFamily="34" charset="77"/>
              </a:rPr>
              <a:t>Evaluated models using metrics such as RMSE, precision, recall, and new‑course coverage</a:t>
            </a:r>
          </a:p>
          <a:p>
            <a:pPr lvl="0"/>
            <a:r>
              <a:rPr lang="en-US" dirty="0">
                <a:latin typeface="Abadi" panose="020B0604020104020204" pitchFamily="34" charset="77"/>
              </a:rPr>
              <a:t>Identified the best‑performing model based on empirical results</a:t>
            </a:r>
          </a:p>
          <a:p>
            <a:pPr lvl="0"/>
            <a:r>
              <a:rPr lang="en-US" dirty="0">
                <a:latin typeface="Abadi" panose="020B0604020104020204" pitchFamily="34" charset="77"/>
              </a:rPr>
              <a:t>Deployed a working Streamlit app that delivers real‑time recommendations</a:t>
            </a:r>
          </a:p>
          <a:p>
            <a:r>
              <a:rPr lang="en-US" dirty="0">
                <a:latin typeface="Abadi" panose="020B0604020104020204" pitchFamily="34" charset="77"/>
              </a:rPr>
              <a:t>Showed how data engineering, model design, and deployment form a coherent AI pipeline</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dirty="0">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248937"/>
            <a:ext cx="10651978" cy="5178273"/>
          </a:xfrm>
          <a:prstGeom prst="rect">
            <a:avLst/>
          </a:prstGeom>
        </p:spPr>
        <p:txBody>
          <a:bodyPr>
            <a:normAutofit fontScale="25000" lnSpcReduction="20000"/>
          </a:bodyPr>
          <a:lstStyle/>
          <a:p>
            <a:pPr>
              <a:lnSpc>
                <a:spcPct val="100000"/>
              </a:lnSpc>
              <a:spcBef>
                <a:spcPts val="1400"/>
              </a:spcBef>
            </a:pPr>
            <a:r>
              <a:rPr lang="en-US" sz="5500" dirty="0">
                <a:solidFill>
                  <a:schemeClr val="accent3">
                    <a:lumMod val="25000"/>
                  </a:schemeClr>
                </a:solidFill>
                <a:latin typeface="Abadi" panose="020B0604020104020204" pitchFamily="34" charset="77"/>
              </a:rPr>
              <a:t>Asset 1: Streamlit application link: http://localhost:8501</a:t>
            </a:r>
          </a:p>
          <a:p>
            <a:pPr>
              <a:lnSpc>
                <a:spcPct val="100000"/>
              </a:lnSpc>
              <a:spcBef>
                <a:spcPts val="1400"/>
              </a:spcBef>
            </a:pPr>
            <a:r>
              <a:rPr lang="en-US" sz="5500" dirty="0">
                <a:solidFill>
                  <a:schemeClr val="accent3">
                    <a:lumMod val="25000"/>
                  </a:schemeClr>
                </a:solidFill>
                <a:latin typeface="Abadi" panose="020B0604020104020204" pitchFamily="34" charset="77"/>
              </a:rPr>
              <a:t>Asset 2: Streamlit control panel:</a:t>
            </a:r>
          </a:p>
          <a:p>
            <a:pPr>
              <a:lnSpc>
                <a:spcPct val="100000"/>
              </a:lnSpc>
              <a:spcBef>
                <a:spcPts val="1400"/>
              </a:spcBef>
            </a:pPr>
            <a:endParaRPr lang="en-US" sz="5500" dirty="0">
              <a:solidFill>
                <a:schemeClr val="accent3">
                  <a:lumMod val="25000"/>
                </a:schemeClr>
              </a:solidFill>
              <a:latin typeface="Abadi" panose="020B0604020104020204" pitchFamily="34" charset="77"/>
            </a:endParaRPr>
          </a:p>
          <a:p>
            <a:pPr>
              <a:lnSpc>
                <a:spcPct val="100000"/>
              </a:lnSpc>
              <a:spcBef>
                <a:spcPts val="1400"/>
              </a:spcBef>
            </a:pPr>
            <a:endParaRPr lang="en-US" sz="5500" dirty="0">
              <a:solidFill>
                <a:schemeClr val="accent3">
                  <a:lumMod val="25000"/>
                </a:schemeClr>
              </a:solidFill>
              <a:latin typeface="Abadi" panose="020B0604020104020204" pitchFamily="34" charset="77"/>
            </a:endParaRPr>
          </a:p>
          <a:p>
            <a:pPr>
              <a:lnSpc>
                <a:spcPct val="100000"/>
              </a:lnSpc>
              <a:spcBef>
                <a:spcPts val="1400"/>
              </a:spcBef>
            </a:pPr>
            <a:endParaRPr lang="en-US" sz="5500" dirty="0">
              <a:solidFill>
                <a:schemeClr val="accent3">
                  <a:lumMod val="25000"/>
                </a:schemeClr>
              </a:solidFill>
              <a:latin typeface="Abadi" panose="020B0604020104020204" pitchFamily="34" charset="77"/>
            </a:endParaRPr>
          </a:p>
          <a:p>
            <a:pPr marL="0" indent="0">
              <a:lnSpc>
                <a:spcPct val="100000"/>
              </a:lnSpc>
              <a:spcBef>
                <a:spcPts val="1400"/>
              </a:spcBef>
              <a:buNone/>
            </a:pPr>
            <a:endParaRPr lang="en-US" sz="5500" dirty="0">
              <a:solidFill>
                <a:schemeClr val="accent3">
                  <a:lumMod val="25000"/>
                </a:schemeClr>
              </a:solidFill>
              <a:latin typeface="Abadi" panose="020B0604020104020204" pitchFamily="34" charset="77"/>
            </a:endParaRPr>
          </a:p>
          <a:p>
            <a:pPr>
              <a:lnSpc>
                <a:spcPct val="100000"/>
              </a:lnSpc>
              <a:spcBef>
                <a:spcPts val="1400"/>
              </a:spcBef>
            </a:pPr>
            <a:r>
              <a:rPr lang="en-US" sz="5500" dirty="0">
                <a:solidFill>
                  <a:schemeClr val="accent3">
                    <a:lumMod val="25000"/>
                  </a:schemeClr>
                </a:solidFill>
                <a:latin typeface="Abadi" panose="020B0604020104020204" pitchFamily="34" charset="77"/>
              </a:rPr>
              <a:t>Asset 3 (code snippet – top courses): </a:t>
            </a:r>
          </a:p>
          <a:p>
            <a:pPr marL="457200" lvl="1" indent="0">
              <a:lnSpc>
                <a:spcPct val="100000"/>
              </a:lnSpc>
              <a:spcBef>
                <a:spcPts val="1400"/>
              </a:spcBef>
              <a:buNone/>
            </a:pPr>
            <a:r>
              <a:rPr lang="en-US" sz="5100" dirty="0">
                <a:solidFill>
                  <a:schemeClr val="accent3">
                    <a:lumMod val="25000"/>
                  </a:schemeClr>
                </a:solidFill>
                <a:latin typeface="Abadi" panose="020B0604020104020204" pitchFamily="34" charset="77"/>
              </a:rPr>
              <a:t>def recommend_courses(</a:t>
            </a:r>
            <a:r>
              <a:rPr lang="en-US" sz="5100" dirty="0" err="1">
                <a:solidFill>
                  <a:schemeClr val="accent3">
                    <a:lumMod val="25000"/>
                  </a:schemeClr>
                </a:solidFill>
                <a:latin typeface="Abadi" panose="020B0604020104020204" pitchFamily="34" charset="77"/>
              </a:rPr>
              <a:t>user_id</a:t>
            </a:r>
            <a:r>
              <a:rPr lang="en-US" sz="5100" dirty="0">
                <a:solidFill>
                  <a:schemeClr val="accent3">
                    <a:lumMod val="25000"/>
                  </a:schemeClr>
                </a:solidFill>
                <a:latin typeface="Abadi" panose="020B0604020104020204" pitchFamily="34" charset="77"/>
              </a:rPr>
              <a:t>, model):</a:t>
            </a:r>
          </a:p>
          <a:p>
            <a:pPr marL="457200" lvl="1" indent="0">
              <a:lnSpc>
                <a:spcPct val="100000"/>
              </a:lnSpc>
              <a:spcBef>
                <a:spcPts val="1400"/>
              </a:spcBef>
              <a:buNone/>
            </a:pPr>
            <a:r>
              <a:rPr lang="en-US" sz="5100" dirty="0" err="1">
                <a:solidFill>
                  <a:schemeClr val="accent3">
                    <a:lumMod val="25000"/>
                  </a:schemeClr>
                </a:solidFill>
                <a:latin typeface="Abadi" panose="020B0604020104020204" pitchFamily="34" charset="77"/>
              </a:rPr>
              <a:t>user_vector</a:t>
            </a:r>
            <a:r>
              <a:rPr lang="en-US" sz="5100" dirty="0">
                <a:solidFill>
                  <a:schemeClr val="accent3">
                    <a:lumMod val="25000"/>
                  </a:schemeClr>
                </a:solidFill>
                <a:latin typeface="Abadi" panose="020B0604020104020204" pitchFamily="34" charset="77"/>
              </a:rPr>
              <a:t> = </a:t>
            </a:r>
            <a:r>
              <a:rPr lang="en-US" sz="5100" dirty="0" err="1">
                <a:solidFill>
                  <a:schemeClr val="accent3">
                    <a:lumMod val="25000"/>
                  </a:schemeClr>
                </a:solidFill>
                <a:latin typeface="Abadi" panose="020B0604020104020204" pitchFamily="34" charset="77"/>
              </a:rPr>
              <a:t>model.transform</a:t>
            </a:r>
            <a:r>
              <a:rPr lang="en-US" sz="5100" dirty="0">
                <a:solidFill>
                  <a:schemeClr val="accent3">
                    <a:lumMod val="25000"/>
                  </a:schemeClr>
                </a:solidFill>
                <a:latin typeface="Abadi" panose="020B0604020104020204" pitchFamily="34" charset="77"/>
              </a:rPr>
              <a:t>(</a:t>
            </a:r>
            <a:r>
              <a:rPr lang="en-US" sz="5100" dirty="0" err="1">
                <a:solidFill>
                  <a:schemeClr val="accent3">
                    <a:lumMod val="25000"/>
                  </a:schemeClr>
                </a:solidFill>
                <a:latin typeface="Abadi" panose="020B0604020104020204" pitchFamily="34" charset="77"/>
              </a:rPr>
              <a:t>user_id</a:t>
            </a:r>
            <a:r>
              <a:rPr lang="en-US" sz="5100" dirty="0">
                <a:solidFill>
                  <a:schemeClr val="accent3">
                    <a:lumMod val="25000"/>
                  </a:schemeClr>
                </a:solidFill>
                <a:latin typeface="Abadi" panose="020B0604020104020204" pitchFamily="34" charset="77"/>
              </a:rPr>
              <a:t>)</a:t>
            </a:r>
          </a:p>
          <a:p>
            <a:pPr marL="457200" lvl="1" indent="0">
              <a:lnSpc>
                <a:spcPct val="100000"/>
              </a:lnSpc>
              <a:spcBef>
                <a:spcPts val="1400"/>
              </a:spcBef>
              <a:buNone/>
            </a:pPr>
            <a:r>
              <a:rPr lang="en-US" sz="5100" dirty="0">
                <a:solidFill>
                  <a:schemeClr val="accent3">
                    <a:lumMod val="25000"/>
                  </a:schemeClr>
                </a:solidFill>
                <a:latin typeface="Abadi" panose="020B0604020104020204" pitchFamily="34" charset="77"/>
              </a:rPr>
              <a:t>scores = </a:t>
            </a:r>
            <a:r>
              <a:rPr lang="en-US" sz="5100" dirty="0" err="1">
                <a:solidFill>
                  <a:schemeClr val="accent3">
                    <a:lumMod val="25000"/>
                  </a:schemeClr>
                </a:solidFill>
                <a:latin typeface="Abadi" panose="020B0604020104020204" pitchFamily="34" charset="77"/>
              </a:rPr>
              <a:t>course_matrix.dot</a:t>
            </a:r>
            <a:r>
              <a:rPr lang="en-US" sz="5100" dirty="0">
                <a:solidFill>
                  <a:schemeClr val="accent3">
                    <a:lumMod val="25000"/>
                  </a:schemeClr>
                </a:solidFill>
                <a:latin typeface="Abadi" panose="020B0604020104020204" pitchFamily="34" charset="77"/>
              </a:rPr>
              <a:t>(</a:t>
            </a:r>
            <a:r>
              <a:rPr lang="en-US" sz="5100" dirty="0" err="1">
                <a:solidFill>
                  <a:schemeClr val="accent3">
                    <a:lumMod val="25000"/>
                  </a:schemeClr>
                </a:solidFill>
                <a:latin typeface="Abadi" panose="020B0604020104020204" pitchFamily="34" charset="77"/>
              </a:rPr>
              <a:t>user_vector.T</a:t>
            </a:r>
            <a:r>
              <a:rPr lang="en-US" sz="5100" dirty="0">
                <a:solidFill>
                  <a:schemeClr val="accent3">
                    <a:lumMod val="25000"/>
                  </a:schemeClr>
                </a:solidFill>
                <a:latin typeface="Abadi" panose="020B0604020104020204" pitchFamily="34" charset="77"/>
              </a:rPr>
              <a:t>)</a:t>
            </a:r>
          </a:p>
          <a:p>
            <a:pPr marL="457200" lvl="1" indent="0">
              <a:lnSpc>
                <a:spcPct val="100000"/>
              </a:lnSpc>
              <a:spcBef>
                <a:spcPts val="1400"/>
              </a:spcBef>
              <a:buNone/>
            </a:pPr>
            <a:r>
              <a:rPr lang="en-US" sz="5100" dirty="0" err="1">
                <a:solidFill>
                  <a:schemeClr val="accent3">
                    <a:lumMod val="25000"/>
                  </a:schemeClr>
                </a:solidFill>
                <a:latin typeface="Abadi" panose="020B0604020104020204" pitchFamily="34" charset="77"/>
              </a:rPr>
              <a:t>top_courses</a:t>
            </a:r>
            <a:r>
              <a:rPr lang="en-US" sz="5100" dirty="0">
                <a:solidFill>
                  <a:schemeClr val="accent3">
                    <a:lumMod val="25000"/>
                  </a:schemeClr>
                </a:solidFill>
                <a:latin typeface="Abadi" panose="020B0604020104020204" pitchFamily="34" charset="77"/>
              </a:rPr>
              <a:t> = </a:t>
            </a:r>
            <a:r>
              <a:rPr lang="en-US" sz="5100" dirty="0" err="1">
                <a:solidFill>
                  <a:schemeClr val="accent3">
                    <a:lumMod val="25000"/>
                  </a:schemeClr>
                </a:solidFill>
                <a:latin typeface="Abadi" panose="020B0604020104020204" pitchFamily="34" charset="77"/>
              </a:rPr>
              <a:t>np.argsort</a:t>
            </a:r>
            <a:r>
              <a:rPr lang="en-US" sz="5100" dirty="0">
                <a:solidFill>
                  <a:schemeClr val="accent3">
                    <a:lumMod val="25000"/>
                  </a:schemeClr>
                </a:solidFill>
                <a:latin typeface="Abadi" panose="020B0604020104020204" pitchFamily="34" charset="77"/>
              </a:rPr>
              <a:t>(scores)[::-1][:10]</a:t>
            </a:r>
          </a:p>
          <a:p>
            <a:pPr marL="457200" lvl="1" indent="0">
              <a:lnSpc>
                <a:spcPct val="100000"/>
              </a:lnSpc>
              <a:spcBef>
                <a:spcPts val="1400"/>
              </a:spcBef>
              <a:buNone/>
            </a:pPr>
            <a:r>
              <a:rPr lang="en-US" sz="5100" dirty="0">
                <a:solidFill>
                  <a:schemeClr val="accent3">
                    <a:lumMod val="25000"/>
                  </a:schemeClr>
                </a:solidFill>
                <a:latin typeface="Abadi" panose="020B0604020104020204" pitchFamily="34" charset="77"/>
              </a:rPr>
              <a:t>return </a:t>
            </a:r>
            <a:r>
              <a:rPr lang="en-US" sz="5100" dirty="0" err="1">
                <a:solidFill>
                  <a:schemeClr val="accent3">
                    <a:lumMod val="25000"/>
                  </a:schemeClr>
                </a:solidFill>
                <a:latin typeface="Abadi" panose="020B0604020104020204" pitchFamily="34" charset="77"/>
              </a:rPr>
              <a:t>course_df.iloc</a:t>
            </a:r>
            <a:r>
              <a:rPr lang="en-US" sz="5100" dirty="0">
                <a:solidFill>
                  <a:schemeClr val="accent3">
                    <a:lumMod val="25000"/>
                  </a:schemeClr>
                </a:solidFill>
                <a:latin typeface="Abadi" panose="020B0604020104020204" pitchFamily="34" charset="77"/>
              </a:rPr>
              <a:t>[</a:t>
            </a:r>
            <a:r>
              <a:rPr lang="en-US" sz="5100" dirty="0" err="1">
                <a:solidFill>
                  <a:schemeClr val="accent3">
                    <a:lumMod val="25000"/>
                  </a:schemeClr>
                </a:solidFill>
                <a:latin typeface="Abadi" panose="020B0604020104020204" pitchFamily="34" charset="77"/>
              </a:rPr>
              <a:t>top_courses</a:t>
            </a:r>
            <a:r>
              <a:rPr lang="en-US" sz="5100" dirty="0">
                <a:solidFill>
                  <a:schemeClr val="accent3">
                    <a:lumMod val="25000"/>
                  </a:schemeClr>
                </a:solidFill>
                <a:latin typeface="Abadi" panose="020B0604020104020204" pitchFamily="34" charset="77"/>
              </a:rPr>
              <a:t>]</a:t>
            </a:r>
          </a:p>
          <a:p>
            <a:pPr marL="0" indent="0">
              <a:lnSpc>
                <a:spcPct val="100000"/>
              </a:lnSpc>
              <a:spcBef>
                <a:spcPts val="1400"/>
              </a:spcBef>
              <a:buNone/>
            </a:pPr>
            <a:r>
              <a:rPr lang="en-US" sz="5500" b="1" dirty="0">
                <a:latin typeface="Abadi" panose="020B0604020104020204" pitchFamily="34" charset="77"/>
              </a:rPr>
              <a:t>Core recommendation logic: user vector transformed via model and matched against course matrix.</a:t>
            </a:r>
            <a:endParaRPr lang="en-US" sz="5500" b="1" dirty="0">
              <a:solidFill>
                <a:schemeClr val="accent3">
                  <a:lumMod val="25000"/>
                </a:schemeClr>
              </a:solidFill>
              <a:latin typeface="Abadi" panose="020B0604020104020204" pitchFamily="34" charset="77"/>
            </a:endParaRP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pic>
        <p:nvPicPr>
          <p:cNvPr id="3" name="Picture 2">
            <a:extLst>
              <a:ext uri="{FF2B5EF4-FFF2-40B4-BE49-F238E27FC236}">
                <a16:creationId xmlns:a16="http://schemas.microsoft.com/office/drawing/2014/main" id="{6ED43901-31C6-B16E-A89B-5C5ADF7EC590}"/>
              </a:ext>
            </a:extLst>
          </p:cNvPr>
          <p:cNvPicPr>
            <a:picLocks noChangeAspect="1"/>
          </p:cNvPicPr>
          <p:nvPr/>
        </p:nvPicPr>
        <p:blipFill>
          <a:blip r:embed="rId4"/>
          <a:stretch>
            <a:fillRect/>
          </a:stretch>
        </p:blipFill>
        <p:spPr>
          <a:xfrm>
            <a:off x="770011" y="1979341"/>
            <a:ext cx="2032760" cy="1204332"/>
          </a:xfrm>
          <a:prstGeom prst="rect">
            <a:avLst/>
          </a:prstGeom>
        </p:spPr>
      </p:pic>
    </p:spTree>
    <p:extLst>
      <p:ext uri="{BB962C8B-B14F-4D97-AF65-F5344CB8AC3E}">
        <p14:creationId xmlns:p14="http://schemas.microsoft.com/office/powerpoint/2010/main" val="34100085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purl.org/dc/dcmitype/"/>
    <ds:schemaRef ds:uri="http://schemas.microsoft.com/office/2006/metadata/properties"/>
    <ds:schemaRef ds:uri="f80a141d-92ca-4d3d-9308-f7e7b1d44ce8"/>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155be751-a274-42e8-93fb-f39d3b9bccc8"/>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4508</TotalTime>
  <Words>2865</Words>
  <Application>Microsoft Macintosh PowerPoint</Application>
  <PresentationFormat>Widescreen</PresentationFormat>
  <Paragraphs>438</Paragraphs>
  <Slides>27</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Abadi</vt:lpstr>
      <vt:lpstr>Arial</vt:lpstr>
      <vt:lpstr>Calibri</vt:lpstr>
      <vt:lpstr>Custom Design</vt:lpstr>
      <vt:lpstr>PowerPoint Presentation</vt:lpstr>
      <vt:lpstr>PowerPoint Presentation</vt:lpstr>
      <vt:lpstr>PowerPoint Presentation</vt:lpstr>
      <vt:lpstr>Background (Why it matters)</vt:lpstr>
      <vt:lpstr>Problem statement and hypothesis</vt:lpstr>
      <vt:lpstr>Problem statement and hypothesis (2)</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Evaluation results of user profile-based recommender system</vt:lpstr>
      <vt:lpstr>Flowchart of content-based recommender system using course similarity</vt:lpstr>
      <vt:lpstr>Evaluation results of course similarity-based recommender system</vt:lpstr>
      <vt:lpstr>Evaluation results of course similarity-based recommender system (2)</vt:lpstr>
      <vt:lpstr>Flowchart of clustering-based recommender system</vt:lpstr>
      <vt:lpstr>Hyperparameter Tuning Results (Similarity Threshold Impact) </vt:lpstr>
      <vt:lpstr>Collaborative-filtering Recommender System using Supervised Learning</vt:lpstr>
      <vt:lpstr>Flowchart of KNN based recommender system</vt:lpstr>
      <vt:lpstr>Flowchart of NMF based recommender system</vt:lpstr>
      <vt:lpstr>Flowchart of Neural Network Embedding based recommender system</vt:lpstr>
      <vt:lpstr>Compare the performance of collaborative-filtering models</vt:lpstr>
      <vt:lpstr>Build a course recommender system app with Streamlit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Ranganath Bobba</cp:lastModifiedBy>
  <cp:revision>545</cp:revision>
  <dcterms:created xsi:type="dcterms:W3CDTF">2021-04-29T18:58:34Z</dcterms:created>
  <dcterms:modified xsi:type="dcterms:W3CDTF">2026-05-07T18:55:49Z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